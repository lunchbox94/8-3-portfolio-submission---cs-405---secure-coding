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2" autoAdjust="0"/>
    <p:restoredTop sz="83654" autoAdjust="0"/>
  </p:normalViewPr>
  <p:slideViewPr>
    <p:cSldViewPr snapToGrid="0">
      <p:cViewPr>
        <p:scale>
          <a:sx n="80" d="100"/>
          <a:sy n="80" d="100"/>
        </p:scale>
        <p:origin x="1758" y="3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Hello everyone. My name is Brennan Brickell, and this presentation covers the Green Pace Security Policy. I will explain the security standards, how vulnerabilities are prioritized, how automation detects risks, and how this policy supports a defense-in-depth strategy.</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This security policy was created to ensure secure coding and system design remain consistent across the development team. As applications grow, risk increases. Without clear standards, small mistakes can introduce serious vulnerabilities.</a:t>
            </a:r>
          </a:p>
          <a:p>
            <a:pPr marL="158750" indent="0">
              <a:buNone/>
            </a:pPr>
            <a:endParaRPr lang="en-US" dirty="0"/>
          </a:p>
          <a:p>
            <a:pPr marL="158750" indent="0">
              <a:buNone/>
            </a:pPr>
            <a:r>
              <a:rPr lang="en-US" dirty="0"/>
              <a:t>We follow a defense-in-depth approach. That means we do not rely on a single layer of security. Instead, we apply protections across development, testing, deployment, and production monitoring.</a:t>
            </a:r>
          </a:p>
          <a:p>
            <a:pPr marL="0" lvl="0" indent="0" algn="l" rtl="0">
              <a:lnSpc>
                <a:spcPct val="100000"/>
              </a:lnSpc>
              <a:spcBef>
                <a:spcPts val="0"/>
              </a:spcBef>
              <a:spcAft>
                <a:spcPts val="0"/>
              </a:spcAft>
              <a:buSzPts val="1100"/>
              <a:buNone/>
            </a:pP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This threats matrix ranks vulnerabilities based on likelihood and impact. High-likelihood, high-impact issues include input validation failures, SQL injection, and memory-related vulnerabilities.</a:t>
            </a:r>
          </a:p>
          <a:p>
            <a:pPr marL="158750" indent="0">
              <a:buNone/>
            </a:pPr>
            <a:endParaRPr lang="en-US" dirty="0"/>
          </a:p>
          <a:p>
            <a:pPr marL="158750" indent="0">
              <a:buNone/>
            </a:pPr>
            <a:r>
              <a:rPr lang="en-US" dirty="0"/>
              <a:t>Lower-priority risks still matter but are less likely to cause immediate compromise. This ranking helps us focus on the most critical vulnerabilities first.</a:t>
            </a:r>
          </a:p>
          <a:p>
            <a:pPr marL="0" lvl="0" indent="0" algn="l" rtl="0">
              <a:lnSpc>
                <a:spcPct val="100000"/>
              </a:lnSpc>
              <a:spcBef>
                <a:spcPts val="0"/>
              </a:spcBef>
              <a:spcAft>
                <a:spcPts val="0"/>
              </a:spcAft>
              <a:buSzPts val="1100"/>
              <a:buNone/>
            </a:pP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These ten principles form the foundation of the Green Pace security policy. Each principle aligns with one or more coding standards.</a:t>
            </a:r>
          </a:p>
          <a:p>
            <a:pPr marL="158750" indent="0">
              <a:buNone/>
            </a:pPr>
            <a:endParaRPr lang="en-US" dirty="0"/>
          </a:p>
          <a:p>
            <a:pPr marL="158750" indent="0">
              <a:buNone/>
            </a:pPr>
            <a:r>
              <a:rPr lang="en-US" dirty="0"/>
              <a:t>For example, input validation supports buffer overflow prevention. Least privilege aligns with access control standards. Defense in depth applies across all standards to ensure layered protection.</a:t>
            </a:r>
          </a:p>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These coding standards are ranked by exploitability and potential damage. Input validation, SQL injection prevention, and memory protection are highest priority because they directly protect system integrity.</a:t>
            </a:r>
          </a:p>
          <a:p>
            <a:pPr marL="158750" indent="0">
              <a:buNone/>
            </a:pPr>
            <a:endParaRPr lang="en-US" dirty="0"/>
          </a:p>
          <a:p>
            <a:pPr marL="158750" indent="0">
              <a:buNone/>
            </a:pPr>
            <a:r>
              <a:rPr lang="en-US" dirty="0"/>
              <a:t>Medium-priority standards focus on stability and safe behavior. Lower-priority standards affect reliability but are less likely to cause immediate compromise.</a:t>
            </a:r>
          </a:p>
          <a:p>
            <a:pPr marL="0" lvl="0" indent="0" algn="l" rtl="0">
              <a:lnSpc>
                <a:spcPct val="100000"/>
              </a:lnSpc>
              <a:spcBef>
                <a:spcPts val="0"/>
              </a:spcBef>
              <a:spcAft>
                <a:spcPts val="0"/>
              </a:spcAft>
              <a:buSzPts val="1100"/>
              <a:buNone/>
            </a:pP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Encryption is applied in three areas: at rest, in flight, and in use.</a:t>
            </a:r>
          </a:p>
          <a:p>
            <a:pPr marL="158750" indent="0">
              <a:buNone/>
            </a:pPr>
            <a:endParaRPr lang="en-US" dirty="0"/>
          </a:p>
          <a:p>
            <a:pPr marL="158750" indent="0">
              <a:buNone/>
            </a:pPr>
            <a:r>
              <a:rPr lang="en-US" dirty="0"/>
              <a:t>Encryption at rest protects stored data. Encryption in flight protects data during transmission. Encryption in use limits exposure in memory.</a:t>
            </a:r>
          </a:p>
          <a:p>
            <a:pPr marL="158750" indent="0">
              <a:buNone/>
            </a:pPr>
            <a:endParaRPr lang="en-US" dirty="0"/>
          </a:p>
          <a:p>
            <a:pPr marL="158750" indent="0">
              <a:buNone/>
            </a:pPr>
            <a:r>
              <a:rPr lang="en-US" dirty="0"/>
              <a:t>Strong key management ensures encryption keys remain secure and access is restricted.</a:t>
            </a:r>
          </a:p>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The Triple-A framework includes authentication, authorization, and accounting.</a:t>
            </a:r>
          </a:p>
          <a:p>
            <a:pPr marL="158750" indent="0">
              <a:buNone/>
            </a:pPr>
            <a:endParaRPr lang="en-US" dirty="0"/>
          </a:p>
          <a:p>
            <a:pPr marL="158750" indent="0">
              <a:buNone/>
            </a:pPr>
            <a:r>
              <a:rPr lang="en-US" dirty="0"/>
              <a:t>Authentication verifies identity. Authorization limits access based on role. Accounting logs activity for auditing and investigation.</a:t>
            </a:r>
          </a:p>
          <a:p>
            <a:pPr marL="158750" indent="0">
              <a:buNone/>
            </a:pPr>
            <a:endParaRPr lang="en-US" dirty="0"/>
          </a:p>
          <a:p>
            <a:pPr marL="158750" indent="0">
              <a:buNone/>
            </a:pPr>
            <a:r>
              <a:rPr lang="en-US" dirty="0"/>
              <a:t>Together, these controls protect system access and provide traceability.</a:t>
            </a:r>
          </a:p>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This section demonstrates how I tested STD-003-CPP, which focuses on buffer overflow prevention. I used the Visual Studio C++ unit testing framework to create both positive and negative test cases.</a:t>
            </a:r>
          </a:p>
          <a:p>
            <a:pPr marL="158750" indent="0">
              <a:buNone/>
            </a:pPr>
            <a:endParaRPr lang="en-US" dirty="0"/>
          </a:p>
          <a:p>
            <a:pPr marL="158750" indent="0">
              <a:buNone/>
            </a:pPr>
            <a:r>
              <a:rPr lang="en-US" dirty="0"/>
              <a:t>The goal is to ensure unsafe input is rejected before it can cause memory corruption.</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Security tools are integrated throughout the </a:t>
            </a:r>
            <a:r>
              <a:rPr lang="en-US" dirty="0" err="1"/>
              <a:t>DevSecOps</a:t>
            </a:r>
            <a:r>
              <a:rPr lang="en-US" dirty="0"/>
              <a:t> lifecycle.</a:t>
            </a:r>
          </a:p>
          <a:p>
            <a:pPr marL="158750" indent="0">
              <a:buNone/>
            </a:pPr>
            <a:endParaRPr lang="en-US" dirty="0"/>
          </a:p>
          <a:p>
            <a:pPr marL="158750" indent="0">
              <a:buNone/>
            </a:pPr>
            <a:r>
              <a:rPr lang="en-US" dirty="0"/>
              <a:t>In development, static analysis and unit tests detect vulnerabilities early. In production, monitoring and logging detect suspicious behavior.</a:t>
            </a:r>
          </a:p>
          <a:p>
            <a:pPr marL="158750" indent="0">
              <a:buNone/>
            </a:pPr>
            <a:endParaRPr lang="en-US" dirty="0"/>
          </a:p>
          <a:p>
            <a:pPr marL="158750" indent="0">
              <a:buNone/>
            </a:pPr>
            <a:r>
              <a:rPr lang="en-US" dirty="0"/>
              <a:t>If a security test fails, the build fails. This prevents vulnerable code from being deployed.</a:t>
            </a:r>
          </a:p>
          <a:p>
            <a:pPr marL="0" lvl="0" indent="0" algn="l" rtl="0">
              <a:lnSpc>
                <a:spcPct val="100000"/>
              </a:lnSpc>
              <a:spcBef>
                <a:spcPts val="0"/>
              </a:spcBef>
              <a:spcAft>
                <a:spcPts val="0"/>
              </a:spcAft>
              <a:buSzPts val="1100"/>
              <a:buNone/>
            </a:pP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The </a:t>
            </a:r>
            <a:r>
              <a:rPr lang="en-US" dirty="0" err="1"/>
              <a:t>DevSecOps</a:t>
            </a:r>
            <a:r>
              <a:rPr lang="en-US" dirty="0"/>
              <a:t> pipeline integrates security tools at every stage. Compiler warnings, static analysis, and unit tests operate during development.</a:t>
            </a:r>
          </a:p>
          <a:p>
            <a:endParaRPr lang="en-US" dirty="0"/>
          </a:p>
          <a:p>
            <a:pPr marL="158750" indent="0">
              <a:buNone/>
            </a:pPr>
            <a:r>
              <a:rPr lang="en-US" dirty="0"/>
              <a:t>Before deployment, automated scans validate the build. In production, monitoring tools and intrusion detection systems provide continuous protection.</a:t>
            </a:r>
          </a:p>
          <a:p>
            <a:pPr marL="0" lvl="0" indent="0" algn="l" rtl="0">
              <a:lnSpc>
                <a:spcPct val="100000"/>
              </a:lnSpc>
              <a:spcBef>
                <a:spcPts val="0"/>
              </a:spcBef>
              <a:spcAft>
                <a:spcPts val="0"/>
              </a:spcAft>
              <a:buSzPts val="1100"/>
              <a:buNone/>
            </a:pP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endParaRPr lang="en-US" dirty="0"/>
          </a:p>
          <a:p>
            <a:pPr marL="158750" indent="0">
              <a:buNone/>
            </a:pPr>
            <a:r>
              <a:rPr lang="en-US" dirty="0"/>
              <a:t>If we act now, we reduce breach risk and long-term costs. If we delay, vulnerabilities may remain hidden and become more expensive to fix.</a:t>
            </a:r>
          </a:p>
          <a:p>
            <a:pPr marL="158750" indent="0">
              <a:buNone/>
            </a:pPr>
            <a:endParaRPr lang="en-US" dirty="0"/>
          </a:p>
          <a:p>
            <a:pPr marL="158750" indent="0">
              <a:buNone/>
            </a:pPr>
            <a:r>
              <a:rPr lang="en-US" dirty="0"/>
              <a:t>Current gaps include limited fuzz testing and the need for stronger monitoring. Expanding automation and training improves long-term security posture.</a:t>
            </a:r>
          </a:p>
          <a:p>
            <a:pPr marL="0" lvl="0" indent="0" algn="l" rtl="0">
              <a:lnSpc>
                <a:spcPct val="100000"/>
              </a:lnSpc>
              <a:spcBef>
                <a:spcPts val="0"/>
              </a:spcBef>
              <a:spcAft>
                <a:spcPts val="0"/>
              </a:spcAft>
              <a:buSzPts val="1100"/>
              <a:buNone/>
            </a:pP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To strengthen this policy, we should expand automated testing, enforce security gates in CI, and conduct regular security training.</a:t>
            </a:r>
          </a:p>
          <a:p>
            <a:pPr marL="158750" indent="0">
              <a:buNone/>
            </a:pPr>
            <a:endParaRPr lang="en-US" dirty="0"/>
          </a:p>
          <a:p>
            <a:pPr marL="158750" indent="0">
              <a:buNone/>
            </a:pPr>
            <a:r>
              <a:rPr lang="en-US" dirty="0"/>
              <a:t>Continuous review and threat modeling will help prevent future vulnerabilities.</a:t>
            </a:r>
          </a:p>
          <a:p>
            <a:pPr marL="0" lvl="0" indent="0" algn="l" rtl="0">
              <a:lnSpc>
                <a:spcPct val="100000"/>
              </a:lnSpc>
              <a:spcBef>
                <a:spcPts val="0"/>
              </a:spcBef>
              <a:spcAft>
                <a:spcPts val="0"/>
              </a:spcAft>
              <a:buSzPts val="1100"/>
              <a:buNone/>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dirty="0"/>
              <a:t>Security must be continuous, layered, and proactive. By applying secure coding standards, automation, encryption, and monitoring, Green Pace can reduce long-term risk and protect system integrity.</a:t>
            </a:r>
          </a:p>
          <a:p>
            <a:pPr marL="158750" indent="0">
              <a:buNone/>
            </a:pPr>
            <a:endParaRPr lang="en-US" dirty="0"/>
          </a:p>
          <a:p>
            <a:pPr marL="158750" indent="0">
              <a:buNone/>
            </a:pPr>
            <a:r>
              <a:rPr lang="en-US" dirty="0"/>
              <a:t>Security is not a one-time task. It is an ongoing commitment.</a:t>
            </a:r>
          </a:p>
          <a:p>
            <a:pPr marL="0" lvl="0" indent="0" algn="l" rtl="0">
              <a:lnSpc>
                <a:spcPct val="100000"/>
              </a:lnSpc>
              <a:spcBef>
                <a:spcPts val="0"/>
              </a:spcBef>
              <a:spcAft>
                <a:spcPts val="0"/>
              </a:spcAft>
              <a:buSzPts val="1100"/>
              <a:buNone/>
            </a:pP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notesSlide" Target="../notesSlides/notesSlide14.xml"/><Relationship Id="rId7" Type="http://schemas.openxmlformats.org/officeDocument/2006/relationships/hyperlink" Target="https://www.nist.gov/cyberframework" TargetMode="Externa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csrc.nist.gov/publications/detail/sp/800-53/rev-5/final" TargetMode="External"/><Relationship Id="rId5" Type="http://schemas.openxmlformats.org/officeDocument/2006/relationships/hyperlink" Target="https://learn.microsoft.com/en-us/cpp/code-quality/cpp-core-guidelines" TargetMode="External"/><Relationship Id="rId4" Type="http://schemas.openxmlformats.org/officeDocument/2006/relationships/hyperlink" Target="https://owasp.org/www-project-top-t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nSpc>
                <a:spcPct val="70000"/>
              </a:lnSpc>
              <a:buSzPts val="1850"/>
            </a:pPr>
            <a:r>
              <a:rPr lang="en-US" sz="1850" dirty="0"/>
              <a:t>Developer: </a:t>
            </a:r>
            <a:r>
              <a:rPr lang="en-US" sz="1800" dirty="0"/>
              <a:t>Brennan Brickell</a:t>
            </a:r>
            <a:endParaRPr dirty="0"/>
          </a:p>
          <a:p>
            <a:pPr marL="0" lvl="0" indent="0" algn="l" rtl="0">
              <a:lnSpc>
                <a:spcPct val="70000"/>
              </a:lnSpc>
              <a:spcBef>
                <a:spcPts val="1000"/>
              </a:spcBef>
              <a:spcAft>
                <a:spcPts val="0"/>
              </a:spcAft>
              <a:buClr>
                <a:schemeClr val="lt1"/>
              </a:buClr>
              <a:buSzPts val="1850"/>
              <a:buNone/>
            </a:pPr>
            <a:endParaRPr lang="en-US" sz="1850" i="1" dirty="0"/>
          </a:p>
          <a:p>
            <a:pPr marL="0" lvl="0" indent="0">
              <a:lnSpc>
                <a:spcPct val="70000"/>
              </a:lnSpc>
              <a:buSzPts val="1850"/>
            </a:pPr>
            <a:r>
              <a:rPr lang="en-US" sz="1800" dirty="0"/>
              <a:t>CS 405 – Project Two</a:t>
            </a: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1532943" y="-261504"/>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826191" y="604807"/>
            <a:ext cx="10257883" cy="3708513"/>
          </a:xfrm>
          <a:prstGeom prst="rect">
            <a:avLst/>
          </a:prstGeom>
          <a:noFill/>
          <a:ln>
            <a:noFill/>
          </a:ln>
        </p:spPr>
        <p:txBody>
          <a:bodyPr spcFirstLastPara="1" wrap="square" lIns="91425" tIns="45700" rIns="91425" bIns="45700" anchor="t" anchorCtr="0">
            <a:normAutofit/>
          </a:bodyPr>
          <a:lstStyle/>
          <a:p>
            <a:r>
              <a:rPr lang="en-US" sz="2000" dirty="0"/>
              <a:t>We created this security policy to ensure that secure coding and system design are consistent across the entire development team. As our applications grow and more users interact with them, the overall risk increases. Without clear standards, vulnerabilities can be introduced through small mistakes or inconsistent practices.</a:t>
            </a:r>
          </a:p>
          <a:p>
            <a:r>
              <a:rPr lang="en-US" sz="2000" dirty="0"/>
              <a:t>This policy supports a defense-in-depth approach by building security into every phase of development. Instead of relying on a single protection layer, we use multiple safeguards across coding, testing, and deployment. If one control fails, others remain in place to protect the system.</a:t>
            </a:r>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2911643" y="3488832"/>
            <a:ext cx="6039852" cy="3369168"/>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3998794" y="163871"/>
            <a:ext cx="4641376"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357981" y="327645"/>
            <a:ext cx="3504157" cy="5540893"/>
          </a:xfrm>
          <a:prstGeom prst="rect">
            <a:avLst/>
          </a:prstGeom>
          <a:noFill/>
          <a:ln>
            <a:noFill/>
          </a:ln>
        </p:spPr>
        <p:txBody>
          <a:bodyPr spcFirstLastPara="1" wrap="square" lIns="91425" tIns="45700" rIns="91425" bIns="45700" anchor="t" anchorCtr="0">
            <a:noAutofit/>
          </a:bodyPr>
          <a:lstStyle/>
          <a:p>
            <a:pPr marL="228600" lvl="0" indent="-88900">
              <a:lnSpc>
                <a:spcPct val="150000"/>
              </a:lnSpc>
              <a:buSzPts val="2200"/>
              <a:buNone/>
            </a:pPr>
            <a:r>
              <a:rPr lang="en-US" sz="1600" dirty="0">
                <a:latin typeface="Times New Roman" panose="02020603050405020304" pitchFamily="18" charset="0"/>
                <a:cs typeface="Times New Roman" panose="02020603050405020304" pitchFamily="18" charset="0"/>
              </a:rPr>
              <a:t>This matrix shows how I ranked the main security risks based on how likely they are to happen and how much damage they could cause. The highest risks involve input validation, SQL injection, and memory-related issues because they can directly affect system stability or expose data. Lower-ranked risks are still important, but they are less likely to cause immediate compromise and are typically caught during testing.</a:t>
            </a:r>
            <a:endParaRPr sz="1600" dirty="0">
              <a:latin typeface="Times New Roman" panose="02020603050405020304" pitchFamily="18" charset="0"/>
              <a:cs typeface="Times New Roman" panose="02020603050405020304" pitchFamily="18" charset="0"/>
            </a:endParaRPr>
          </a:p>
        </p:txBody>
      </p:sp>
      <p:graphicFrame>
        <p:nvGraphicFramePr>
          <p:cNvPr id="161" name="Google Shape;161;p4" descr="Alt text required"/>
          <p:cNvGraphicFramePr/>
          <p:nvPr>
            <p:extLst>
              <p:ext uri="{D42A27DB-BD31-4B8C-83A1-F6EECF244321}">
                <p14:modId xmlns:p14="http://schemas.microsoft.com/office/powerpoint/2010/main" val="2763619071"/>
              </p:ext>
            </p:extLst>
          </p:nvPr>
        </p:nvGraphicFramePr>
        <p:xfrm>
          <a:off x="3998794" y="1401455"/>
          <a:ext cx="7835225" cy="4817295"/>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78633">
                <a:tc>
                  <a:txBody>
                    <a:bodyPr/>
                    <a:lstStyle/>
                    <a:p>
                      <a:pPr algn="ctr"/>
                      <a:r>
                        <a:rPr lang="en-US" sz="1600" b="1" u="sng" dirty="0">
                          <a:latin typeface="Times New Roman" panose="02020603050405020304" pitchFamily="18" charset="0"/>
                          <a:cs typeface="Times New Roman" panose="02020603050405020304" pitchFamily="18" charset="0"/>
                        </a:rPr>
                        <a:t>Likely</a:t>
                      </a:r>
                    </a:p>
                    <a:p>
                      <a:endParaRPr lang="en-US" sz="1600" dirty="0">
                        <a:latin typeface="Times New Roman" panose="02020603050405020304" pitchFamily="18" charset="0"/>
                        <a:cs typeface="Times New Roman" panose="02020603050405020304" pitchFamily="18" charset="0"/>
                      </a:endParaRPr>
                    </a:p>
                    <a:p>
                      <a:pPr algn="l">
                        <a:lnSpc>
                          <a:spcPct val="150000"/>
                        </a:lnSpc>
                      </a:pPr>
                      <a:r>
                        <a:rPr lang="en-US" sz="1600" dirty="0">
                          <a:latin typeface="Times New Roman" panose="02020603050405020304" pitchFamily="18" charset="0"/>
                          <a:cs typeface="Times New Roman" panose="02020603050405020304" pitchFamily="18" charset="0"/>
                        </a:rPr>
                        <a:t>STD-002-CPP – Missing input validation</a:t>
                      </a:r>
                    </a:p>
                    <a:p>
                      <a:pPr algn="l">
                        <a:lnSpc>
                          <a:spcPct val="150000"/>
                        </a:lnSpc>
                      </a:pPr>
                      <a:r>
                        <a:rPr lang="en-US" sz="1600" dirty="0">
                          <a:latin typeface="Times New Roman" panose="02020603050405020304" pitchFamily="18" charset="0"/>
                          <a:cs typeface="Times New Roman" panose="02020603050405020304" pitchFamily="18" charset="0"/>
                        </a:rPr>
                        <a:t>STD-004-CPP – SQL injection</a:t>
                      </a:r>
                    </a:p>
                    <a:p>
                      <a:pPr algn="l">
                        <a:lnSpc>
                          <a:spcPct val="150000"/>
                        </a:lnSpc>
                      </a:pPr>
                      <a:r>
                        <a:rPr lang="en-US" sz="1600" dirty="0">
                          <a:latin typeface="Times New Roman" panose="02020603050405020304" pitchFamily="18" charset="0"/>
                          <a:cs typeface="Times New Roman" panose="02020603050405020304" pitchFamily="18" charset="0"/>
                        </a:rPr>
                        <a:t>STD-005-CPP – Memory corruption / use-after-free</a:t>
                      </a:r>
                    </a:p>
                    <a:p>
                      <a:pPr algn="l">
                        <a:lnSpc>
                          <a:spcPct val="150000"/>
                        </a:lnSpc>
                      </a:pPr>
                      <a:r>
                        <a:rPr lang="en-US" sz="1600" dirty="0">
                          <a:latin typeface="Times New Roman" panose="02020603050405020304" pitchFamily="18" charset="0"/>
                          <a:cs typeface="Times New Roman" panose="02020603050405020304" pitchFamily="18" charset="0"/>
                        </a:rPr>
                        <a:t>STD-003-CPP – Buffer overflow</a:t>
                      </a:r>
                    </a:p>
                    <a:p>
                      <a:pPr marL="0" marR="0" lvl="0" indent="0" algn="ctr" rtl="0">
                        <a:lnSpc>
                          <a:spcPct val="100000"/>
                        </a:lnSpc>
                        <a:spcBef>
                          <a:spcPts val="0"/>
                        </a:spcBef>
                        <a:spcAft>
                          <a:spcPts val="0"/>
                        </a:spcAft>
                        <a:buClr>
                          <a:srgbClr val="000000"/>
                        </a:buClr>
                        <a:buSzPts val="3600"/>
                        <a:buFont typeface="Arial"/>
                        <a:buNone/>
                      </a:pPr>
                      <a:endParaRPr sz="3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600" b="1" u="sng" dirty="0">
                          <a:effectLst/>
                          <a:latin typeface="Times New Roman" panose="02020603050405020304" pitchFamily="18" charset="0"/>
                          <a:cs typeface="Times New Roman" panose="02020603050405020304" pitchFamily="18" charset="0"/>
                        </a:rPr>
                        <a:t>Priority (High Impact)</a:t>
                      </a:r>
                    </a:p>
                    <a:p>
                      <a:pPr marL="0" marR="0" lvl="0" indent="0" algn="ctr" rtl="0">
                        <a:lnSpc>
                          <a:spcPct val="100000"/>
                        </a:lnSpc>
                        <a:spcBef>
                          <a:spcPts val="0"/>
                        </a:spcBef>
                        <a:spcAft>
                          <a:spcPts val="0"/>
                        </a:spcAft>
                        <a:buClr>
                          <a:srgbClr val="000000"/>
                        </a:buClr>
                        <a:buSzPts val="3600"/>
                        <a:buFont typeface="Arial"/>
                        <a:buNone/>
                      </a:pPr>
                      <a:endParaRPr lang="en-US" sz="1600" b="1" u="sng" strike="noStrike" cap="none" dirty="0">
                        <a:effectLst/>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STD-001-CPP – Unsafe type conversion</a:t>
                      </a:r>
                    </a:p>
                    <a:p>
                      <a:pPr>
                        <a:lnSpc>
                          <a:spcPct val="150000"/>
                        </a:lnSpc>
                      </a:pPr>
                      <a:r>
                        <a:rPr lang="en-US" sz="1600" dirty="0">
                          <a:latin typeface="Times New Roman" panose="02020603050405020304" pitchFamily="18" charset="0"/>
                          <a:cs typeface="Times New Roman" panose="02020603050405020304" pitchFamily="18" charset="0"/>
                        </a:rPr>
                        <a:t>STD-007-CPP – Exception misuse</a:t>
                      </a:r>
                    </a:p>
                    <a:p>
                      <a:pPr>
                        <a:lnSpc>
                          <a:spcPct val="150000"/>
                        </a:lnSpc>
                      </a:pPr>
                      <a:r>
                        <a:rPr lang="en-US" sz="1600" dirty="0">
                          <a:latin typeface="Times New Roman" panose="02020603050405020304" pitchFamily="18" charset="0"/>
                          <a:cs typeface="Times New Roman" panose="02020603050405020304" pitchFamily="18" charset="0"/>
                        </a:rPr>
                        <a:t>STD-009-CPP – Uninitialized variables</a:t>
                      </a:r>
                    </a:p>
                    <a:p>
                      <a:pPr marL="0" marR="0" lvl="0" indent="0" algn="l" rtl="0">
                        <a:lnSpc>
                          <a:spcPct val="100000"/>
                        </a:lnSpc>
                        <a:spcBef>
                          <a:spcPts val="0"/>
                        </a:spcBef>
                        <a:spcAft>
                          <a:spcPts val="0"/>
                        </a:spcAft>
                        <a:buClr>
                          <a:srgbClr val="000000"/>
                        </a:buClr>
                        <a:buSzPts val="3600"/>
                        <a:buFont typeface="Arial"/>
                        <a:buNone/>
                      </a:pPr>
                      <a:endParaRPr sz="1600" b="1" u="sng" strike="noStrike" cap="none" dirty="0">
                        <a:effectLst/>
                        <a:latin typeface="Times New Roman" panose="02020603050405020304" pitchFamily="18" charset="0"/>
                        <a:cs typeface="Times New Roman" panose="02020603050405020304" pitchFamily="18" charset="0"/>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algn="ctr"/>
                      <a:r>
                        <a:rPr lang="en-US" sz="1600" b="1" u="sng" dirty="0">
                          <a:latin typeface="Times New Roman" panose="02020603050405020304" pitchFamily="18" charset="0"/>
                          <a:cs typeface="Times New Roman" panose="02020603050405020304" pitchFamily="18" charset="0"/>
                        </a:rPr>
                        <a:t>Low Priority</a:t>
                      </a:r>
                    </a:p>
                    <a:p>
                      <a:endParaRPr lang="en-US" b="1" dirty="0"/>
                    </a:p>
                    <a:p>
                      <a:pPr algn="l">
                        <a:lnSpc>
                          <a:spcPct val="150000"/>
                        </a:lnSpc>
                      </a:pPr>
                      <a:r>
                        <a:rPr lang="en-US" sz="1600" dirty="0">
                          <a:latin typeface="Times New Roman" panose="02020603050405020304" pitchFamily="18" charset="0"/>
                          <a:cs typeface="Times New Roman" panose="02020603050405020304" pitchFamily="18" charset="0"/>
                        </a:rPr>
                        <a:t>STD-010-CPP – Resource leaks</a:t>
                      </a:r>
                    </a:p>
                    <a:p>
                      <a:pPr algn="l">
                        <a:lnSpc>
                          <a:spcPct val="150000"/>
                        </a:lnSpc>
                      </a:pPr>
                      <a:r>
                        <a:rPr lang="en-US" sz="1600" dirty="0">
                          <a:latin typeface="Times New Roman" panose="02020603050405020304" pitchFamily="18" charset="0"/>
                          <a:cs typeface="Times New Roman" panose="02020603050405020304" pitchFamily="18" charset="0"/>
                        </a:rPr>
                        <a:t>STD-006-CPP – Assertion misuse</a:t>
                      </a:r>
                    </a:p>
                    <a:p>
                      <a:pPr marL="0" marR="0" lvl="0" indent="0" algn="ctr" rtl="0">
                        <a:lnSpc>
                          <a:spcPct val="100000"/>
                        </a:lnSpc>
                        <a:spcBef>
                          <a:spcPts val="0"/>
                        </a:spcBef>
                        <a:spcAft>
                          <a:spcPts val="0"/>
                        </a:spcAft>
                        <a:buClr>
                          <a:srgbClr val="000000"/>
                        </a:buClr>
                        <a:buSzPts val="3600"/>
                        <a:buFont typeface="Arial"/>
                        <a:buNone/>
                      </a:pP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algn="ctr"/>
                      <a:r>
                        <a:rPr lang="en-US" sz="1600" b="1" dirty="0">
                          <a:latin typeface="Times New Roman" panose="02020603050405020304" pitchFamily="18" charset="0"/>
                          <a:cs typeface="Times New Roman" panose="02020603050405020304" pitchFamily="18" charset="0"/>
                        </a:rPr>
                        <a:t>Unlikely</a:t>
                      </a:r>
                    </a:p>
                    <a:p>
                      <a:endParaRPr lang="en-US" b="1" dirty="0"/>
                    </a:p>
                    <a:p>
                      <a:r>
                        <a:rPr lang="en-US" dirty="0"/>
                        <a:t>STD-008-CPP – Pointer validation issues</a:t>
                      </a:r>
                    </a:p>
                    <a:p>
                      <a:pPr marL="0" marR="0" lvl="0" indent="0" algn="ctr" rtl="0">
                        <a:lnSpc>
                          <a:spcPct val="100000"/>
                        </a:lnSpc>
                        <a:spcBef>
                          <a:spcPts val="0"/>
                        </a:spcBef>
                        <a:spcAft>
                          <a:spcPts val="0"/>
                        </a:spcAft>
                        <a:buClr>
                          <a:srgbClr val="000000"/>
                        </a:buClr>
                        <a:buSzPts val="3600"/>
                        <a:buFont typeface="Arial"/>
                        <a:buNone/>
                      </a:pP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3981450" y="-190500"/>
            <a:ext cx="39624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514349" y="857251"/>
            <a:ext cx="10569725" cy="5562600"/>
          </a:xfrm>
          <a:prstGeom prst="rect">
            <a:avLst/>
          </a:prstGeom>
          <a:noFill/>
          <a:ln>
            <a:noFill/>
          </a:ln>
        </p:spPr>
        <p:txBody>
          <a:bodyPr spcFirstLastPara="1" wrap="square" lIns="91425" tIns="45700" rIns="91425" bIns="45700" anchor="t" anchorCtr="0">
            <a:normAutofit/>
          </a:bodyPr>
          <a:lstStyle/>
          <a:p>
            <a:pPr marL="0" lvl="0" indent="0">
              <a:lnSpc>
                <a:spcPct val="150000"/>
              </a:lnSpc>
              <a:spcBef>
                <a:spcPts val="0"/>
              </a:spcBef>
              <a:buSzPts val="220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Validate Input Data</a:t>
            </a:r>
            <a:r>
              <a:rPr lang="en-US" dirty="0">
                <a:latin typeface="Times New Roman" panose="02020603050405020304" pitchFamily="18" charset="0"/>
                <a:cs typeface="Times New Roman" panose="02020603050405020304" pitchFamily="18" charset="0"/>
              </a:rPr>
              <a:t> - STD-002, STD-003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Heed Compiler Warnings</a:t>
            </a:r>
            <a:r>
              <a:rPr lang="en-US" dirty="0">
                <a:latin typeface="Times New Roman" panose="02020603050405020304" pitchFamily="18" charset="0"/>
                <a:cs typeface="Times New Roman" panose="02020603050405020304" pitchFamily="18" charset="0"/>
              </a:rPr>
              <a:t> - STD-001, STD-009</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Design for Security</a:t>
            </a:r>
            <a:r>
              <a:rPr lang="en-US" dirty="0">
                <a:latin typeface="Times New Roman" panose="02020603050405020304" pitchFamily="18" charset="0"/>
                <a:cs typeface="Times New Roman" panose="02020603050405020304" pitchFamily="18" charset="0"/>
              </a:rPr>
              <a:t> - STD-004, STD-005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Keep It Simple</a:t>
            </a:r>
            <a:r>
              <a:rPr lang="en-US" dirty="0">
                <a:latin typeface="Times New Roman" panose="02020603050405020304" pitchFamily="18" charset="0"/>
                <a:cs typeface="Times New Roman" panose="02020603050405020304" pitchFamily="18" charset="0"/>
              </a:rPr>
              <a:t> - STD-003, STD-010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Default Deny</a:t>
            </a:r>
            <a:r>
              <a:rPr lang="en-US" dirty="0">
                <a:latin typeface="Times New Roman" panose="02020603050405020304" pitchFamily="18" charset="0"/>
                <a:cs typeface="Times New Roman" panose="02020603050405020304" pitchFamily="18" charset="0"/>
              </a:rPr>
              <a:t> - STD-006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Least Privilege</a:t>
            </a:r>
            <a:r>
              <a:rPr lang="en-US" dirty="0">
                <a:latin typeface="Times New Roman" panose="02020603050405020304" pitchFamily="18" charset="0"/>
                <a:cs typeface="Times New Roman" panose="02020603050405020304" pitchFamily="18" charset="0"/>
              </a:rPr>
              <a:t> - STD-004, STD-005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Sanitize External Data</a:t>
            </a:r>
            <a:r>
              <a:rPr lang="en-US" dirty="0">
                <a:latin typeface="Times New Roman" panose="02020603050405020304" pitchFamily="18" charset="0"/>
                <a:cs typeface="Times New Roman" panose="02020603050405020304" pitchFamily="18" charset="0"/>
              </a:rPr>
              <a:t> - STD-004</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Defense in Depth</a:t>
            </a:r>
            <a:r>
              <a:rPr lang="en-US" dirty="0">
                <a:latin typeface="Times New Roman" panose="02020603050405020304" pitchFamily="18" charset="0"/>
                <a:cs typeface="Times New Roman" panose="02020603050405020304" pitchFamily="18" charset="0"/>
              </a:rPr>
              <a:t> - STD-001 through STD-010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Quality Assurance</a:t>
            </a:r>
            <a:r>
              <a:rPr lang="en-US" dirty="0">
                <a:latin typeface="Times New Roman" panose="02020603050405020304" pitchFamily="18" charset="0"/>
                <a:cs typeface="Times New Roman" panose="02020603050405020304" pitchFamily="18" charset="0"/>
              </a:rPr>
              <a:t> - Automated detection tools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Secure Coding Standard Adoption</a:t>
            </a:r>
            <a:r>
              <a:rPr lang="en-US" dirty="0">
                <a:latin typeface="Times New Roman" panose="02020603050405020304" pitchFamily="18" charset="0"/>
                <a:cs typeface="Times New Roman" panose="02020603050405020304" pitchFamily="18" charset="0"/>
              </a:rPr>
              <a:t> - All standards enforced</a:t>
            </a:r>
            <a:endParaRPr dirty="0">
              <a:latin typeface="Times New Roman" panose="02020603050405020304" pitchFamily="18" charset="0"/>
              <a:cs typeface="Times New Roman" panose="02020603050405020304" pitchFamily="18" charset="0"/>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705100" y="-152401"/>
            <a:ext cx="5943600" cy="1276351"/>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CODING STANDARDS</a:t>
            </a:r>
            <a:endParaRPr dirty="0"/>
          </a:p>
        </p:txBody>
      </p:sp>
      <p:sp>
        <p:nvSpPr>
          <p:cNvPr id="175" name="Google Shape;175;p6"/>
          <p:cNvSpPr txBox="1">
            <a:spLocks noGrp="1"/>
          </p:cNvSpPr>
          <p:nvPr>
            <p:ph type="body" idx="1"/>
          </p:nvPr>
        </p:nvSpPr>
        <p:spPr>
          <a:xfrm>
            <a:off x="221325" y="838200"/>
            <a:ext cx="11306049" cy="5751551"/>
          </a:xfrm>
          <a:prstGeom prst="rect">
            <a:avLst/>
          </a:prstGeom>
          <a:noFill/>
          <a:ln>
            <a:noFill/>
          </a:ln>
        </p:spPr>
        <p:txBody>
          <a:bodyPr spcFirstLastPara="1" wrap="square" lIns="91425" tIns="45700" rIns="91425" bIns="45700" anchor="t" anchorCtr="0">
            <a:normAutofit fontScale="92500" lnSpcReduction="20000"/>
          </a:bodyPr>
          <a:lstStyle/>
          <a:p>
            <a:pPr marL="114300" indent="0">
              <a:lnSpc>
                <a:spcPct val="150000"/>
              </a:lnSpc>
              <a:buNone/>
            </a:pPr>
            <a:r>
              <a:rPr lang="en-US" b="1" dirty="0">
                <a:latin typeface="Times New Roman" panose="02020603050405020304" pitchFamily="18" charset="0"/>
                <a:cs typeface="Times New Roman" panose="02020603050405020304" pitchFamily="18" charset="0"/>
              </a:rPr>
              <a:t>High Priority (Direct Exploit Risk)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STD-002 – Input validation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STD-004 – SQL injection prevention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STD-005 – Memory protection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STD-003 – Buffer overflow prevention</a:t>
            </a:r>
          </a:p>
          <a:p>
            <a:pPr marL="114300" indent="0">
              <a:lnSpc>
                <a:spcPct val="150000"/>
              </a:lnSpc>
              <a:buNone/>
            </a:pPr>
            <a:r>
              <a:rPr lang="en-US" b="1" dirty="0">
                <a:latin typeface="Times New Roman" panose="02020603050405020304" pitchFamily="18" charset="0"/>
                <a:cs typeface="Times New Roman" panose="02020603050405020304" pitchFamily="18" charset="0"/>
              </a:rPr>
              <a:t>Medium Priority (Stability &amp; Logic Protection)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STD-001 – Safe type conversion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STD-007 – Safe exception handling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STD-009 – Variable initialization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STD-008 – Pointer validation</a:t>
            </a:r>
          </a:p>
          <a:p>
            <a:pPr marL="114300" indent="0">
              <a:lnSpc>
                <a:spcPct val="150000"/>
              </a:lnSpc>
              <a:buNone/>
            </a:pPr>
            <a:r>
              <a:rPr lang="en-US" b="1" dirty="0">
                <a:latin typeface="Times New Roman" panose="02020603050405020304" pitchFamily="18" charset="0"/>
                <a:cs typeface="Times New Roman" panose="02020603050405020304" pitchFamily="18" charset="0"/>
              </a:rPr>
              <a:t>Lower Priority (Operational &amp; Maintenance Risks)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STD-006 – Assertion misuse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STD-010 – Resource management</a:t>
            </a:r>
          </a:p>
          <a:p>
            <a:pPr marL="228600" lvl="0" indent="-228600" algn="l" rtl="0">
              <a:lnSpc>
                <a:spcPct val="90000"/>
              </a:lnSpc>
              <a:spcBef>
                <a:spcPts val="0"/>
              </a:spcBef>
              <a:spcAft>
                <a:spcPts val="0"/>
              </a:spcAft>
              <a:buClr>
                <a:schemeClr val="lt1"/>
              </a:buClr>
              <a:buSzPts val="2000"/>
              <a:buChar char="•"/>
            </a:pP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209550"/>
            <a:ext cx="60198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704850" y="819150"/>
            <a:ext cx="10379224" cy="5770601"/>
          </a:xfrm>
          <a:prstGeom prst="rect">
            <a:avLst/>
          </a:prstGeom>
          <a:noFill/>
          <a:ln>
            <a:noFill/>
          </a:ln>
        </p:spPr>
        <p:txBody>
          <a:bodyPr spcFirstLastPara="1" wrap="square" lIns="91425" tIns="45700" rIns="91425" bIns="45700" anchor="t" anchorCtr="0">
            <a:normAutofit/>
          </a:bodyPr>
          <a:lstStyle/>
          <a:p>
            <a:pPr>
              <a:lnSpc>
                <a:spcPct val="150000"/>
              </a:lnSpc>
            </a:pPr>
            <a:r>
              <a:rPr lang="en-US" sz="1800" b="1" dirty="0">
                <a:latin typeface="Times New Roman" panose="02020603050405020304" pitchFamily="18" charset="0"/>
                <a:cs typeface="Times New Roman" panose="02020603050405020304" pitchFamily="18" charset="0"/>
              </a:rPr>
              <a:t>Encryption at Rest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Sensitive data stored on servers, databases, and backups must remain encrypted to protect it if systems are accessed or stolen.</a:t>
            </a:r>
          </a:p>
          <a:p>
            <a:pPr>
              <a:lnSpc>
                <a:spcPct val="150000"/>
              </a:lnSpc>
            </a:pPr>
            <a:r>
              <a:rPr lang="en-US" sz="1800" b="1" dirty="0">
                <a:latin typeface="Times New Roman" panose="02020603050405020304" pitchFamily="18" charset="0"/>
                <a:cs typeface="Times New Roman" panose="02020603050405020304" pitchFamily="18" charset="0"/>
              </a:rPr>
              <a:t>Encryption in Flight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All data transmitted between users, services, and databases must use secure communication protocols to prevent interception or tampering.</a:t>
            </a:r>
          </a:p>
          <a:p>
            <a:pPr>
              <a:lnSpc>
                <a:spcPct val="150000"/>
              </a:lnSpc>
            </a:pPr>
            <a:r>
              <a:rPr lang="en-US" sz="1800" b="1" dirty="0">
                <a:latin typeface="Times New Roman" panose="02020603050405020304" pitchFamily="18" charset="0"/>
                <a:cs typeface="Times New Roman" panose="02020603050405020304" pitchFamily="18" charset="0"/>
              </a:rPr>
              <a:t>Encryption in Use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Sensitive information in memory should be limited in exposure time and cleared when no longer needed to reduce runtime attack risk.</a:t>
            </a:r>
          </a:p>
          <a:p>
            <a:pPr>
              <a:lnSpc>
                <a:spcPct val="150000"/>
              </a:lnSpc>
            </a:pPr>
            <a:r>
              <a:rPr lang="en-US" sz="1800" b="1" dirty="0">
                <a:latin typeface="Times New Roman" panose="02020603050405020304" pitchFamily="18" charset="0"/>
                <a:cs typeface="Times New Roman" panose="02020603050405020304" pitchFamily="18" charset="0"/>
              </a:rPr>
              <a:t>Key Management and Access Control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Encryption keys must be securely stored and access to them strictly limited. Protecting the keys is just as important as encrypting the data itself.</a:t>
            </a: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7339"/>
            <a:ext cx="5105400" cy="1123951"/>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647700" y="1201290"/>
            <a:ext cx="10858500" cy="5017395"/>
          </a:xfrm>
          <a:prstGeom prst="rect">
            <a:avLst/>
          </a:prstGeom>
          <a:noFill/>
          <a:ln>
            <a:noFill/>
          </a:ln>
        </p:spPr>
        <p:txBody>
          <a:bodyPr spcFirstLastPara="1" wrap="square" lIns="91425" tIns="45700" rIns="91425" bIns="45700" anchor="t" anchorCtr="0">
            <a:normAutofit/>
          </a:bodyPr>
          <a:lstStyle/>
          <a:p>
            <a:pPr>
              <a:lnSpc>
                <a:spcPct val="150000"/>
              </a:lnSpc>
            </a:pPr>
            <a:r>
              <a:rPr lang="en-US" b="1" u="sng" dirty="0">
                <a:latin typeface="Times New Roman" panose="02020603050405020304" pitchFamily="18" charset="0"/>
                <a:cs typeface="Times New Roman" panose="02020603050405020304" pitchFamily="18" charset="0"/>
              </a:rPr>
              <a:t>Authentication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 users must verify their identity before accessing protected systems. Strong passwords and multi-factor authentication are required for higher-level access.</a:t>
            </a:r>
          </a:p>
          <a:p>
            <a:pPr>
              <a:lnSpc>
                <a:spcPct val="150000"/>
              </a:lnSpc>
            </a:pPr>
            <a:r>
              <a:rPr lang="en-US" b="1" u="sng" dirty="0">
                <a:latin typeface="Times New Roman" panose="02020603050405020304" pitchFamily="18" charset="0"/>
                <a:cs typeface="Times New Roman" panose="02020603050405020304" pitchFamily="18" charset="0"/>
              </a:rPr>
              <a:t>Authorization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Access is granted based on role and responsibility. Users are given only the permissions they need to perform their tasks.</a:t>
            </a:r>
          </a:p>
          <a:p>
            <a:pPr>
              <a:lnSpc>
                <a:spcPct val="150000"/>
              </a:lnSpc>
            </a:pPr>
            <a:r>
              <a:rPr lang="en-US" b="1" u="sng" dirty="0">
                <a:latin typeface="Times New Roman" panose="02020603050405020304" pitchFamily="18" charset="0"/>
                <a:cs typeface="Times New Roman" panose="02020603050405020304" pitchFamily="18" charset="0"/>
              </a:rPr>
              <a:t>Accounting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User activity is logged and monitored, including logins, database changes, and file access. These records support auditing and incident investigation.</a:t>
            </a:r>
          </a:p>
          <a:p>
            <a:pPr marL="0" lvl="0" indent="0" algn="l" rtl="0">
              <a:lnSpc>
                <a:spcPct val="90000"/>
              </a:lnSpc>
              <a:spcBef>
                <a:spcPts val="0"/>
              </a:spcBef>
              <a:spcAft>
                <a:spcPts val="0"/>
              </a:spcAft>
              <a:buClr>
                <a:schemeClr val="lt1"/>
              </a:buClr>
              <a:buSzPts val="2400"/>
              <a:buNone/>
            </a:pPr>
            <a:endParaRPr lang="en-US"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7350274" y="268249"/>
            <a:ext cx="3733800" cy="1276323"/>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xfrm>
            <a:off x="438150" y="1714500"/>
            <a:ext cx="11068050" cy="4504260"/>
          </a:xfrm>
          <a:prstGeom prst="rect">
            <a:avLst/>
          </a:prstGeom>
          <a:noFill/>
          <a:ln>
            <a:noFill/>
          </a:ln>
        </p:spPr>
        <p:txBody>
          <a:bodyPr spcFirstLastPara="1" wrap="square" lIns="91425" tIns="45700" rIns="91425" bIns="45700" anchor="t" anchorCtr="0">
            <a:noAutofit/>
          </a:bodyPr>
          <a:lstStyle/>
          <a:p>
            <a:r>
              <a:rPr lang="en-US" b="1" dirty="0"/>
              <a:t>Unit Testing Focus: STD-003-CPP (Buffer Overflow Prevention)</a:t>
            </a:r>
            <a:endParaRPr lang="en-US" dirty="0"/>
          </a:p>
          <a:p>
            <a:r>
              <a:rPr lang="en-US" dirty="0"/>
              <a:t>Vulnerability: unsafe string input / overflow risk</a:t>
            </a:r>
          </a:p>
          <a:p>
            <a:r>
              <a:rPr lang="en-US" dirty="0"/>
              <a:t>Goal: reject oversized input and handle edge cases safely</a:t>
            </a:r>
          </a:p>
          <a:p>
            <a:r>
              <a:rPr lang="en-US" dirty="0"/>
              <a:t>Tool: Visual Studio C++ Unit Testing framework</a:t>
            </a:r>
          </a:p>
          <a:p>
            <a:r>
              <a:rPr lang="en-US" dirty="0"/>
              <a:t>Result: tests run automatically and block unsafe code</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705100" y="70706"/>
            <a:ext cx="6305550" cy="114922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6354049" y="1812759"/>
            <a:ext cx="5616626" cy="3809432"/>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9B41FD5E-5BE2-F025-6BE9-C3BFA961A0C8}"/>
              </a:ext>
            </a:extLst>
          </p:cNvPr>
          <p:cNvSpPr txBox="1"/>
          <p:nvPr/>
        </p:nvSpPr>
        <p:spPr>
          <a:xfrm>
            <a:off x="333620" y="1644711"/>
            <a:ext cx="6667500" cy="4370427"/>
          </a:xfrm>
          <a:prstGeom prst="rect">
            <a:avLst/>
          </a:prstGeom>
          <a:noFill/>
        </p:spPr>
        <p:txBody>
          <a:bodyPr wrap="square" rtlCol="0">
            <a:spAutoFit/>
          </a:bodyPr>
          <a:lstStyle/>
          <a:p>
            <a:r>
              <a:rPr lang="en-US" sz="2400" u="sng" dirty="0">
                <a:solidFill>
                  <a:schemeClr val="bg1"/>
                </a:solidFill>
                <a:latin typeface="Times New Roman" panose="02020603050405020304" pitchFamily="18" charset="0"/>
                <a:cs typeface="Times New Roman" panose="02020603050405020304" pitchFamily="18" charset="0"/>
              </a:rPr>
              <a:t>Security in Pre-Production</a:t>
            </a:r>
          </a:p>
          <a:p>
            <a:r>
              <a:rPr lang="en-US" sz="2400" dirty="0">
                <a:solidFill>
                  <a:schemeClr val="bg1"/>
                </a:solidFill>
                <a:latin typeface="Times New Roman" panose="02020603050405020304" pitchFamily="18" charset="0"/>
                <a:cs typeface="Times New Roman" panose="02020603050405020304" pitchFamily="18" charset="0"/>
              </a:rPr>
              <a:t>- Static code analysis during build</a:t>
            </a:r>
          </a:p>
          <a:p>
            <a:r>
              <a:rPr lang="en-US" sz="2400" dirty="0">
                <a:solidFill>
                  <a:schemeClr val="bg1"/>
                </a:solidFill>
                <a:latin typeface="Times New Roman" panose="02020603050405020304" pitchFamily="18" charset="0"/>
                <a:cs typeface="Times New Roman" panose="02020603050405020304" pitchFamily="18" charset="0"/>
              </a:rPr>
              <a:t>- Unit tests executed automatically</a:t>
            </a:r>
          </a:p>
          <a:p>
            <a:r>
              <a:rPr lang="en-US" sz="2400" dirty="0">
                <a:solidFill>
                  <a:schemeClr val="bg1"/>
                </a:solidFill>
                <a:latin typeface="Times New Roman" panose="02020603050405020304" pitchFamily="18" charset="0"/>
                <a:cs typeface="Times New Roman" panose="02020603050405020304" pitchFamily="18" charset="0"/>
              </a:rPr>
              <a:t>- Vulnerability scanning before deployment</a:t>
            </a:r>
          </a:p>
          <a:p>
            <a:r>
              <a:rPr lang="en-US" sz="2400" u="sng" dirty="0">
                <a:solidFill>
                  <a:schemeClr val="bg1"/>
                </a:solidFill>
                <a:latin typeface="Times New Roman" panose="02020603050405020304" pitchFamily="18" charset="0"/>
                <a:cs typeface="Times New Roman" panose="02020603050405020304" pitchFamily="18" charset="0"/>
              </a:rPr>
              <a:t>Security in Production</a:t>
            </a:r>
          </a:p>
          <a:p>
            <a:r>
              <a:rPr lang="en-US" sz="2400" dirty="0">
                <a:solidFill>
                  <a:schemeClr val="bg1"/>
                </a:solidFill>
                <a:latin typeface="Times New Roman" panose="02020603050405020304" pitchFamily="18" charset="0"/>
                <a:cs typeface="Times New Roman" panose="02020603050405020304" pitchFamily="18" charset="0"/>
              </a:rPr>
              <a:t>- Runtime monitoring and logging</a:t>
            </a:r>
          </a:p>
          <a:p>
            <a:r>
              <a:rPr lang="en-US" sz="2400" dirty="0">
                <a:solidFill>
                  <a:schemeClr val="bg1"/>
                </a:solidFill>
                <a:latin typeface="Times New Roman" panose="02020603050405020304" pitchFamily="18" charset="0"/>
                <a:cs typeface="Times New Roman" panose="02020603050405020304" pitchFamily="18" charset="0"/>
              </a:rPr>
              <a:t>- Intrusion detection and alerting</a:t>
            </a:r>
          </a:p>
          <a:p>
            <a:r>
              <a:rPr lang="en-US" sz="2400" dirty="0">
                <a:solidFill>
                  <a:schemeClr val="bg1"/>
                </a:solidFill>
                <a:latin typeface="Times New Roman" panose="02020603050405020304" pitchFamily="18" charset="0"/>
                <a:cs typeface="Times New Roman" panose="02020603050405020304" pitchFamily="18" charset="0"/>
              </a:rPr>
              <a:t>- Automated patch management</a:t>
            </a:r>
          </a:p>
          <a:p>
            <a:r>
              <a:rPr lang="en-US" sz="2400" u="sng" dirty="0">
                <a:solidFill>
                  <a:schemeClr val="bg1"/>
                </a:solidFill>
                <a:latin typeface="Times New Roman" panose="02020603050405020304" pitchFamily="18" charset="0"/>
                <a:cs typeface="Times New Roman" panose="02020603050405020304" pitchFamily="18" charset="0"/>
              </a:rPr>
              <a:t>Continuous Protection</a:t>
            </a:r>
          </a:p>
          <a:p>
            <a:r>
              <a:rPr lang="en-US" sz="2400" dirty="0">
                <a:solidFill>
                  <a:schemeClr val="bg1"/>
                </a:solidFill>
                <a:latin typeface="Times New Roman" panose="02020603050405020304" pitchFamily="18" charset="0"/>
                <a:cs typeface="Times New Roman" panose="02020603050405020304" pitchFamily="18" charset="0"/>
              </a:rPr>
              <a:t>- Build fails if security tests fail</a:t>
            </a:r>
          </a:p>
          <a:p>
            <a:r>
              <a:rPr lang="en-US" sz="2400" dirty="0">
                <a:solidFill>
                  <a:schemeClr val="bg1"/>
                </a:solidFill>
                <a:latin typeface="Times New Roman" panose="02020603050405020304" pitchFamily="18" charset="0"/>
                <a:cs typeface="Times New Roman" panose="02020603050405020304" pitchFamily="18" charset="0"/>
              </a:rPr>
              <a:t>-Security checks at every stage of the pipeline</a:t>
            </a:r>
          </a:p>
          <a:p>
            <a:endParaRPr lang="en-US" dirty="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4181959" y="73831"/>
            <a:ext cx="2426368" cy="1418086"/>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7258032" y="1287382"/>
            <a:ext cx="3654610" cy="2514598"/>
          </a:xfrm>
          <a:prstGeom prst="rect">
            <a:avLst/>
          </a:prstGeom>
          <a:noFill/>
          <a:ln>
            <a:noFill/>
          </a:ln>
        </p:spPr>
        <p:txBody>
          <a:bodyPr spcFirstLastPara="1" wrap="square" lIns="91425" tIns="45700" rIns="91425" bIns="45700" anchor="t" anchorCtr="0">
            <a:normAutofit/>
          </a:bodyPr>
          <a:lstStyle/>
          <a:p>
            <a:pPr marL="114300" indent="0">
              <a:lnSpc>
                <a:spcPct val="170000"/>
              </a:lnSpc>
              <a:buNone/>
            </a:pPr>
            <a:r>
              <a:rPr lang="en-US" sz="1400" b="1" u="sng" dirty="0">
                <a:latin typeface="Times New Roman" panose="02020603050405020304" pitchFamily="18" charset="0"/>
                <a:cs typeface="Times New Roman" panose="02020603050405020304" pitchFamily="18" charset="0"/>
              </a:rPr>
              <a:t>Production</a:t>
            </a:r>
            <a:endParaRPr lang="en-US" sz="1400" u="sng" dirty="0">
              <a:latin typeface="Times New Roman" panose="02020603050405020304" pitchFamily="18" charset="0"/>
              <a:cs typeface="Times New Roman" panose="02020603050405020304" pitchFamily="18" charset="0"/>
            </a:endParaRPr>
          </a:p>
          <a:p>
            <a:pPr marL="114300" indent="0">
              <a:lnSpc>
                <a:spcPct val="170000"/>
              </a:lnSpc>
              <a:buNone/>
            </a:pPr>
            <a:r>
              <a:rPr lang="en-US" sz="1400" dirty="0">
                <a:latin typeface="Times New Roman" panose="02020603050405020304" pitchFamily="18" charset="0"/>
                <a:cs typeface="Times New Roman" panose="02020603050405020304" pitchFamily="18" charset="0"/>
              </a:rPr>
              <a:t>- Log monitoring and alerting</a:t>
            </a:r>
          </a:p>
          <a:p>
            <a:pPr marL="114300" indent="0">
              <a:lnSpc>
                <a:spcPct val="170000"/>
              </a:lnSpc>
              <a:buNone/>
            </a:pPr>
            <a:r>
              <a:rPr lang="en-US" sz="1400" dirty="0">
                <a:latin typeface="Times New Roman" panose="02020603050405020304" pitchFamily="18" charset="0"/>
                <a:cs typeface="Times New Roman" panose="02020603050405020304" pitchFamily="18" charset="0"/>
              </a:rPr>
              <a:t>- Intrusion detection systems</a:t>
            </a:r>
          </a:p>
          <a:p>
            <a:pPr marL="114300" indent="0">
              <a:lnSpc>
                <a:spcPct val="170000"/>
              </a:lnSpc>
              <a:buNone/>
            </a:pPr>
            <a:r>
              <a:rPr lang="en-US" sz="1400" dirty="0">
                <a:latin typeface="Times New Roman" panose="02020603050405020304" pitchFamily="18" charset="0"/>
                <a:cs typeface="Times New Roman" panose="02020603050405020304" pitchFamily="18" charset="0"/>
              </a:rPr>
              <a:t>- Patch management updates</a:t>
            </a:r>
          </a:p>
          <a:p>
            <a:pPr marL="685800" lvl="1" indent="-228600" algn="l" rtl="0">
              <a:lnSpc>
                <a:spcPct val="90000"/>
              </a:lnSpc>
              <a:spcBef>
                <a:spcPts val="0"/>
              </a:spcBef>
              <a:spcAft>
                <a:spcPts val="0"/>
              </a:spcAft>
              <a:buClr>
                <a:schemeClr val="lt1"/>
              </a:buClr>
              <a:buSzPts val="2000"/>
              <a:buChar char="•"/>
            </a:pPr>
            <a:endParaRPr sz="16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CE610CA2-0129-812E-3313-A8457E26EC7A}"/>
              </a:ext>
            </a:extLst>
          </p:cNvPr>
          <p:cNvSpPr txBox="1"/>
          <p:nvPr/>
        </p:nvSpPr>
        <p:spPr>
          <a:xfrm>
            <a:off x="3806974" y="1491917"/>
            <a:ext cx="3176337" cy="1772793"/>
          </a:xfrm>
          <a:prstGeom prst="rect">
            <a:avLst/>
          </a:prstGeom>
          <a:noFill/>
        </p:spPr>
        <p:txBody>
          <a:bodyPr wrap="square" rtlCol="0">
            <a:spAutoFit/>
          </a:bodyPr>
          <a:lstStyle/>
          <a:p>
            <a:pPr>
              <a:lnSpc>
                <a:spcPct val="170000"/>
              </a:lnSpc>
            </a:pPr>
            <a:r>
              <a:rPr lang="en-US" b="1" u="sng" dirty="0">
                <a:solidFill>
                  <a:schemeClr val="bg1"/>
                </a:solidFill>
                <a:latin typeface="Times New Roman" panose="02020603050405020304" pitchFamily="18" charset="0"/>
                <a:cs typeface="Times New Roman" panose="02020603050405020304" pitchFamily="18" charset="0"/>
              </a:rPr>
              <a:t>Development Stage</a:t>
            </a:r>
            <a:endParaRPr lang="en-US" u="sng" dirty="0">
              <a:solidFill>
                <a:schemeClr val="bg1"/>
              </a:solidFill>
              <a:latin typeface="Times New Roman" panose="02020603050405020304" pitchFamily="18" charset="0"/>
              <a:cs typeface="Times New Roman" panose="02020603050405020304" pitchFamily="18" charset="0"/>
            </a:endParaRPr>
          </a:p>
          <a:p>
            <a:pPr marL="114300" indent="0">
              <a:lnSpc>
                <a:spcPct val="170000"/>
              </a:lnSpc>
              <a:buNone/>
            </a:pPr>
            <a:r>
              <a:rPr lang="en-US" dirty="0">
                <a:solidFill>
                  <a:schemeClr val="bg1"/>
                </a:solidFill>
                <a:latin typeface="Times New Roman" panose="02020603050405020304" pitchFamily="18" charset="0"/>
                <a:cs typeface="Times New Roman" panose="02020603050405020304" pitchFamily="18" charset="0"/>
              </a:rPr>
              <a:t>- Visual Studio compiler warnings</a:t>
            </a:r>
          </a:p>
          <a:p>
            <a:pPr marL="114300" indent="0">
              <a:lnSpc>
                <a:spcPct val="170000"/>
              </a:lnSpc>
              <a:buNone/>
            </a:pPr>
            <a:r>
              <a:rPr lang="en-US" dirty="0">
                <a:solidFill>
                  <a:schemeClr val="bg1"/>
                </a:solidFill>
                <a:latin typeface="Times New Roman" panose="02020603050405020304" pitchFamily="18" charset="0"/>
                <a:cs typeface="Times New Roman" panose="02020603050405020304" pitchFamily="18" charset="0"/>
              </a:rPr>
              <a:t>- Static code analysis tools</a:t>
            </a:r>
          </a:p>
          <a:p>
            <a:pPr marL="114300" indent="0">
              <a:lnSpc>
                <a:spcPct val="170000"/>
              </a:lnSpc>
              <a:buNone/>
            </a:pPr>
            <a:r>
              <a:rPr lang="en-US" dirty="0">
                <a:solidFill>
                  <a:schemeClr val="bg1"/>
                </a:solidFill>
                <a:latin typeface="Times New Roman" panose="02020603050405020304" pitchFamily="18" charset="0"/>
                <a:cs typeface="Times New Roman" panose="02020603050405020304" pitchFamily="18" charset="0"/>
              </a:rPr>
              <a:t>- C++ Unit Testing framework</a:t>
            </a:r>
          </a:p>
          <a:p>
            <a:endParaRPr lang="en-US" dirty="0"/>
          </a:p>
        </p:txBody>
      </p:sp>
      <p:sp>
        <p:nvSpPr>
          <p:cNvPr id="3" name="TextBox 2">
            <a:extLst>
              <a:ext uri="{FF2B5EF4-FFF2-40B4-BE49-F238E27FC236}">
                <a16:creationId xmlns:a16="http://schemas.microsoft.com/office/drawing/2014/main" id="{D321E6C6-CD34-FDB6-37DD-0547447FDC3F}"/>
              </a:ext>
            </a:extLst>
          </p:cNvPr>
          <p:cNvSpPr txBox="1"/>
          <p:nvPr/>
        </p:nvSpPr>
        <p:spPr>
          <a:xfrm>
            <a:off x="760979" y="1491917"/>
            <a:ext cx="2671011" cy="1772793"/>
          </a:xfrm>
          <a:prstGeom prst="rect">
            <a:avLst/>
          </a:prstGeom>
          <a:noFill/>
        </p:spPr>
        <p:txBody>
          <a:bodyPr wrap="square" rtlCol="0">
            <a:spAutoFit/>
          </a:bodyPr>
          <a:lstStyle/>
          <a:p>
            <a:pPr>
              <a:lnSpc>
                <a:spcPct val="170000"/>
              </a:lnSpc>
            </a:pPr>
            <a:r>
              <a:rPr lang="en-US" b="1" u="sng" dirty="0">
                <a:solidFill>
                  <a:schemeClr val="bg1"/>
                </a:solidFill>
                <a:latin typeface="Times New Roman" panose="02020603050405020304" pitchFamily="18" charset="0"/>
                <a:cs typeface="Times New Roman" panose="02020603050405020304" pitchFamily="18" charset="0"/>
              </a:rPr>
              <a:t>Pre-Deployment</a:t>
            </a:r>
            <a:endParaRPr lang="en-US" u="sng" dirty="0">
              <a:solidFill>
                <a:schemeClr val="bg1"/>
              </a:solidFill>
              <a:latin typeface="Times New Roman" panose="02020603050405020304" pitchFamily="18" charset="0"/>
              <a:cs typeface="Times New Roman" panose="02020603050405020304" pitchFamily="18" charset="0"/>
            </a:endParaRPr>
          </a:p>
          <a:p>
            <a:pPr marL="114300" indent="0">
              <a:lnSpc>
                <a:spcPct val="170000"/>
              </a:lnSpc>
              <a:buNone/>
            </a:pPr>
            <a:r>
              <a:rPr lang="en-US" dirty="0">
                <a:solidFill>
                  <a:schemeClr val="bg1"/>
                </a:solidFill>
                <a:latin typeface="Times New Roman" panose="02020603050405020304" pitchFamily="18" charset="0"/>
                <a:cs typeface="Times New Roman" panose="02020603050405020304" pitchFamily="18" charset="0"/>
              </a:rPr>
              <a:t>- Automated build validation</a:t>
            </a:r>
          </a:p>
          <a:p>
            <a:pPr marL="114300" indent="0">
              <a:lnSpc>
                <a:spcPct val="170000"/>
              </a:lnSpc>
              <a:buNone/>
            </a:pPr>
            <a:r>
              <a:rPr lang="en-US" dirty="0">
                <a:solidFill>
                  <a:schemeClr val="bg1"/>
                </a:solidFill>
                <a:latin typeface="Times New Roman" panose="02020603050405020304" pitchFamily="18" charset="0"/>
                <a:cs typeface="Times New Roman" panose="02020603050405020304" pitchFamily="18" charset="0"/>
              </a:rPr>
              <a:t>- Security test execution</a:t>
            </a:r>
          </a:p>
          <a:p>
            <a:pPr marL="114300" indent="0">
              <a:lnSpc>
                <a:spcPct val="170000"/>
              </a:lnSpc>
              <a:buNone/>
            </a:pPr>
            <a:r>
              <a:rPr lang="en-US" dirty="0">
                <a:solidFill>
                  <a:schemeClr val="bg1"/>
                </a:solidFill>
                <a:latin typeface="Times New Roman" panose="02020603050405020304" pitchFamily="18" charset="0"/>
                <a:cs typeface="Times New Roman" panose="02020603050405020304" pitchFamily="18" charset="0"/>
              </a:rPr>
              <a:t>- Vulnerability scanning</a:t>
            </a:r>
          </a:p>
          <a:p>
            <a:endParaRPr lang="en-US"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6096000" y="0"/>
            <a:ext cx="5410200" cy="131144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RISKS AND BENEFITS</a:t>
            </a:r>
            <a:endParaRPr dirty="0"/>
          </a:p>
        </p:txBody>
      </p:sp>
      <p:sp>
        <p:nvSpPr>
          <p:cNvPr id="217" name="Google Shape;217;p11"/>
          <p:cNvSpPr txBox="1">
            <a:spLocks noGrp="1"/>
          </p:cNvSpPr>
          <p:nvPr>
            <p:ph type="body" idx="1"/>
          </p:nvPr>
        </p:nvSpPr>
        <p:spPr>
          <a:xfrm>
            <a:off x="221325" y="853588"/>
            <a:ext cx="5257800" cy="2377440"/>
          </a:xfrm>
          <a:prstGeom prst="rect">
            <a:avLst/>
          </a:prstGeom>
          <a:noFill/>
          <a:ln>
            <a:noFill/>
          </a:ln>
        </p:spPr>
        <p:txBody>
          <a:bodyPr spcFirstLastPara="1" wrap="square" lIns="91425" tIns="45700" rIns="91425" bIns="45700" anchor="t" anchorCtr="0">
            <a:normAutofit/>
          </a:bodyPr>
          <a:lstStyle/>
          <a:p>
            <a:pPr marL="114300" indent="0">
              <a:buNone/>
            </a:pPr>
            <a:r>
              <a:rPr lang="en-US" b="1" u="sng" dirty="0">
                <a:latin typeface="Times New Roman" panose="02020603050405020304" pitchFamily="18" charset="0"/>
                <a:cs typeface="Times New Roman" panose="02020603050405020304" pitchFamily="18" charset="0"/>
              </a:rPr>
              <a:t>If We Act Now</a:t>
            </a:r>
          </a:p>
          <a:p>
            <a:pPr marL="114300" indent="0">
              <a:buNone/>
            </a:pPr>
            <a:endParaRPr lang="en-US" u="sng" dirty="0">
              <a:latin typeface="Times New Roman" panose="02020603050405020304" pitchFamily="18" charset="0"/>
              <a:cs typeface="Times New Roman" panose="02020603050405020304" pitchFamily="18" charset="0"/>
            </a:endParaRPr>
          </a:p>
          <a:p>
            <a:pPr marL="114300" indent="0">
              <a:buNone/>
            </a:pPr>
            <a:r>
              <a:rPr lang="en-US" dirty="0">
                <a:latin typeface="Times New Roman" panose="02020603050405020304" pitchFamily="18" charset="0"/>
                <a:cs typeface="Times New Roman" panose="02020603050405020304" pitchFamily="18" charset="0"/>
              </a:rPr>
              <a:t>- Reduces risk of data breaches</a:t>
            </a:r>
          </a:p>
          <a:p>
            <a:pPr marL="114300" indent="0">
              <a:buNone/>
            </a:pPr>
            <a:r>
              <a:rPr lang="en-US" dirty="0">
                <a:latin typeface="Times New Roman" panose="02020603050405020304" pitchFamily="18" charset="0"/>
                <a:cs typeface="Times New Roman" panose="02020603050405020304" pitchFamily="18" charset="0"/>
              </a:rPr>
              <a:t>- Prevents costly future incidents</a:t>
            </a:r>
          </a:p>
          <a:p>
            <a:pPr marL="114300" indent="0">
              <a:buNone/>
            </a:pPr>
            <a:r>
              <a:rPr lang="en-US" dirty="0">
                <a:latin typeface="Times New Roman" panose="02020603050405020304" pitchFamily="18" charset="0"/>
                <a:cs typeface="Times New Roman" panose="02020603050405020304" pitchFamily="18" charset="0"/>
              </a:rPr>
              <a:t>- Builds stronger developer security habits</a:t>
            </a:r>
          </a:p>
          <a:p>
            <a:pPr marL="228600" lvl="0" indent="-228600" algn="l" rtl="0">
              <a:lnSpc>
                <a:spcPct val="90000"/>
              </a:lnSpc>
              <a:spcBef>
                <a:spcPts val="0"/>
              </a:spcBef>
              <a:spcAft>
                <a:spcPts val="0"/>
              </a:spcAft>
              <a:buClr>
                <a:schemeClr val="lt1"/>
              </a:buClr>
              <a:buSzPts val="2000"/>
              <a:buChar char="•"/>
            </a:pP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A9F7CABA-8ACC-B8C8-290A-85D5436A1E33}"/>
              </a:ext>
            </a:extLst>
          </p:cNvPr>
          <p:cNvSpPr txBox="1"/>
          <p:nvPr/>
        </p:nvSpPr>
        <p:spPr>
          <a:xfrm>
            <a:off x="340148" y="3573541"/>
            <a:ext cx="5410200" cy="3016210"/>
          </a:xfrm>
          <a:prstGeom prst="rect">
            <a:avLst/>
          </a:prstGeom>
          <a:noFill/>
        </p:spPr>
        <p:txBody>
          <a:bodyPr wrap="square" rtlCol="0">
            <a:spAutoFit/>
          </a:bodyPr>
          <a:lstStyle/>
          <a:p>
            <a:r>
              <a:rPr lang="en-US" sz="2200" b="1" u="sng" dirty="0">
                <a:solidFill>
                  <a:schemeClr val="bg1"/>
                </a:solidFill>
                <a:latin typeface="Times New Roman" panose="02020603050405020304" pitchFamily="18" charset="0"/>
                <a:cs typeface="Times New Roman" panose="02020603050405020304" pitchFamily="18" charset="0"/>
              </a:rPr>
              <a:t>If We Delay</a:t>
            </a:r>
          </a:p>
          <a:p>
            <a:endParaRPr lang="en-US" sz="2200" u="sng"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 Vulnerabilities may go unnoticed</a:t>
            </a:r>
          </a:p>
          <a:p>
            <a:pPr marL="342900" indent="-342900">
              <a:buFont typeface="Arial" panose="020B0604020202020204" pitchFamily="34" charset="0"/>
              <a:buChar char="•"/>
            </a:pPr>
            <a:endParaRPr lang="en-US" sz="22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 Higher financial and reputational </a:t>
            </a:r>
          </a:p>
          <a:p>
            <a:pPr marL="342900" indent="-342900">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Damage</a:t>
            </a:r>
          </a:p>
          <a:p>
            <a:pPr marL="342900" indent="-342900">
              <a:buFont typeface="Arial" panose="020B0604020202020204" pitchFamily="34" charset="0"/>
              <a:buChar char="•"/>
            </a:pPr>
            <a:endParaRPr lang="en-US" sz="22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 Increased remediation cost later</a:t>
            </a:r>
          </a:p>
          <a:p>
            <a:endParaRPr lang="en-US" dirty="0"/>
          </a:p>
        </p:txBody>
      </p:sp>
      <p:sp>
        <p:nvSpPr>
          <p:cNvPr id="3" name="TextBox 2">
            <a:extLst>
              <a:ext uri="{FF2B5EF4-FFF2-40B4-BE49-F238E27FC236}">
                <a16:creationId xmlns:a16="http://schemas.microsoft.com/office/drawing/2014/main" id="{A3E97CF6-0D32-A859-4D26-36296199FB88}"/>
              </a:ext>
            </a:extLst>
          </p:cNvPr>
          <p:cNvSpPr txBox="1"/>
          <p:nvPr/>
        </p:nvSpPr>
        <p:spPr>
          <a:xfrm>
            <a:off x="6307063" y="1311443"/>
            <a:ext cx="4988074" cy="3016210"/>
          </a:xfrm>
          <a:prstGeom prst="rect">
            <a:avLst/>
          </a:prstGeom>
          <a:noFill/>
        </p:spPr>
        <p:txBody>
          <a:bodyPr wrap="square" rtlCol="0">
            <a:spAutoFit/>
          </a:bodyPr>
          <a:lstStyle/>
          <a:p>
            <a:r>
              <a:rPr lang="en-US" sz="2200" b="1" u="sng" dirty="0">
                <a:solidFill>
                  <a:schemeClr val="bg1"/>
                </a:solidFill>
                <a:latin typeface="Times New Roman" panose="02020603050405020304" pitchFamily="18" charset="0"/>
                <a:cs typeface="Times New Roman" panose="02020603050405020304" pitchFamily="18" charset="0"/>
              </a:rPr>
              <a:t>Current Gaps</a:t>
            </a:r>
          </a:p>
          <a:p>
            <a:endParaRPr lang="en-US" sz="2200" dirty="0">
              <a:solidFill>
                <a:schemeClr val="bg1"/>
              </a:solidFill>
              <a:latin typeface="Times New Roman" panose="02020603050405020304" pitchFamily="18" charset="0"/>
              <a:cs typeface="Times New Roman" panose="02020603050405020304" pitchFamily="18" charset="0"/>
            </a:endParaRPr>
          </a:p>
          <a:p>
            <a:pPr marL="342900" indent="-342900">
              <a:buFontTx/>
              <a:buChar char="-"/>
            </a:pPr>
            <a:r>
              <a:rPr lang="en-US" sz="2200" dirty="0">
                <a:solidFill>
                  <a:schemeClr val="bg1"/>
                </a:solidFill>
                <a:latin typeface="Times New Roman" panose="02020603050405020304" pitchFamily="18" charset="0"/>
                <a:cs typeface="Times New Roman" panose="02020603050405020304" pitchFamily="18" charset="0"/>
              </a:rPr>
              <a:t>Limited automated fuzz testing</a:t>
            </a:r>
          </a:p>
          <a:p>
            <a:pPr marL="342900" indent="-342900">
              <a:buFontTx/>
              <a:buChar char="-"/>
            </a:pPr>
            <a:endParaRPr lang="en-US" sz="2200" dirty="0">
              <a:solidFill>
                <a:schemeClr val="bg1"/>
              </a:solidFill>
              <a:latin typeface="Times New Roman" panose="02020603050405020304" pitchFamily="18" charset="0"/>
              <a:cs typeface="Times New Roman" panose="02020603050405020304" pitchFamily="18" charset="0"/>
            </a:endParaRPr>
          </a:p>
          <a:p>
            <a:pPr marL="342900" indent="-342900">
              <a:buFontTx/>
              <a:buChar char="-"/>
            </a:pPr>
            <a:r>
              <a:rPr lang="en-US" sz="2200" dirty="0">
                <a:solidFill>
                  <a:schemeClr val="bg1"/>
                </a:solidFill>
                <a:latin typeface="Times New Roman" panose="02020603050405020304" pitchFamily="18" charset="0"/>
                <a:cs typeface="Times New Roman" panose="02020603050405020304" pitchFamily="18" charset="0"/>
              </a:rPr>
              <a:t>Need stronger continuous monitoring</a:t>
            </a:r>
          </a:p>
          <a:p>
            <a:pPr marL="342900" indent="-342900">
              <a:buFontTx/>
              <a:buChar char="-"/>
            </a:pPr>
            <a:endParaRPr lang="en-US" sz="2200" dirty="0">
              <a:solidFill>
                <a:schemeClr val="bg1"/>
              </a:solidFill>
              <a:latin typeface="Times New Roman" panose="02020603050405020304" pitchFamily="18" charset="0"/>
              <a:cs typeface="Times New Roman" panose="02020603050405020304" pitchFamily="18" charset="0"/>
            </a:endParaRPr>
          </a:p>
          <a:p>
            <a:r>
              <a:rPr lang="en-US" sz="2200" dirty="0">
                <a:solidFill>
                  <a:schemeClr val="bg1"/>
                </a:solidFill>
                <a:latin typeface="Times New Roman" panose="02020603050405020304" pitchFamily="18" charset="0"/>
                <a:cs typeface="Times New Roman" panose="02020603050405020304" pitchFamily="18" charset="0"/>
              </a:rPr>
              <a:t>- Ongoing developer security training required</a:t>
            </a:r>
          </a:p>
          <a:p>
            <a:endParaRPr lang="en-US" dirty="0"/>
          </a:p>
        </p:txBody>
      </p:sp>
      <p:sp>
        <p:nvSpPr>
          <p:cNvPr id="4" name="TextBox 3">
            <a:extLst>
              <a:ext uri="{FF2B5EF4-FFF2-40B4-BE49-F238E27FC236}">
                <a16:creationId xmlns:a16="http://schemas.microsoft.com/office/drawing/2014/main" id="{D1D2FD87-BD9E-760D-A214-997E497A0248}"/>
              </a:ext>
            </a:extLst>
          </p:cNvPr>
          <p:cNvSpPr txBox="1"/>
          <p:nvPr/>
        </p:nvSpPr>
        <p:spPr>
          <a:xfrm>
            <a:off x="5884939" y="4327653"/>
            <a:ext cx="7074842" cy="2462213"/>
          </a:xfrm>
          <a:prstGeom prst="rect">
            <a:avLst/>
          </a:prstGeom>
          <a:noFill/>
        </p:spPr>
        <p:txBody>
          <a:bodyPr wrap="square" rtlCol="0">
            <a:spAutoFit/>
          </a:bodyPr>
          <a:lstStyle/>
          <a:p>
            <a:r>
              <a:rPr lang="en-US" sz="2200" b="1" u="sng" dirty="0">
                <a:solidFill>
                  <a:schemeClr val="bg1"/>
                </a:solidFill>
                <a:latin typeface="Times New Roman" panose="02020603050405020304" pitchFamily="18" charset="0"/>
                <a:cs typeface="Times New Roman" panose="02020603050405020304" pitchFamily="18" charset="0"/>
              </a:rPr>
              <a:t>Next Steps</a:t>
            </a:r>
            <a:endParaRPr lang="en-US" sz="2200" u="sng" dirty="0">
              <a:solidFill>
                <a:schemeClr val="bg1"/>
              </a:solidFill>
              <a:latin typeface="Times New Roman" panose="02020603050405020304" pitchFamily="18" charset="0"/>
              <a:cs typeface="Times New Roman" panose="02020603050405020304" pitchFamily="18" charset="0"/>
            </a:endParaRPr>
          </a:p>
          <a:p>
            <a:pPr marL="342900" indent="-342900">
              <a:buFontTx/>
              <a:buChar char="-"/>
            </a:pPr>
            <a:endParaRPr lang="en-US" sz="2200" dirty="0">
              <a:solidFill>
                <a:schemeClr val="bg1"/>
              </a:solidFill>
              <a:latin typeface="Times New Roman" panose="02020603050405020304" pitchFamily="18" charset="0"/>
              <a:cs typeface="Times New Roman" panose="02020603050405020304" pitchFamily="18" charset="0"/>
            </a:endParaRPr>
          </a:p>
          <a:p>
            <a:r>
              <a:rPr lang="en-US" sz="2200" dirty="0">
                <a:solidFill>
                  <a:schemeClr val="bg1"/>
                </a:solidFill>
                <a:latin typeface="Times New Roman" panose="02020603050405020304" pitchFamily="18" charset="0"/>
                <a:cs typeface="Times New Roman" panose="02020603050405020304" pitchFamily="18" charset="0"/>
              </a:rPr>
              <a:t>-Expand automated testing coverage</a:t>
            </a:r>
          </a:p>
          <a:p>
            <a:pPr marL="342900" indent="-342900">
              <a:buFontTx/>
              <a:buChar char="-"/>
            </a:pPr>
            <a:endParaRPr lang="en-US" sz="2200" dirty="0">
              <a:solidFill>
                <a:schemeClr val="bg1"/>
              </a:solidFill>
              <a:latin typeface="Times New Roman" panose="02020603050405020304" pitchFamily="18" charset="0"/>
              <a:cs typeface="Times New Roman" panose="02020603050405020304" pitchFamily="18" charset="0"/>
            </a:endParaRPr>
          </a:p>
          <a:p>
            <a:r>
              <a:rPr lang="en-US" sz="2200" dirty="0">
                <a:solidFill>
                  <a:schemeClr val="bg1"/>
                </a:solidFill>
                <a:latin typeface="Times New Roman" panose="02020603050405020304" pitchFamily="18" charset="0"/>
                <a:cs typeface="Times New Roman" panose="02020603050405020304" pitchFamily="18" charset="0"/>
              </a:rPr>
              <a:t>- Strengthen CI security enforcement</a:t>
            </a:r>
          </a:p>
          <a:p>
            <a:pPr marL="342900" indent="-342900">
              <a:buFontTx/>
              <a:buChar char="-"/>
            </a:pPr>
            <a:endParaRPr lang="en-US" sz="2200" dirty="0">
              <a:solidFill>
                <a:schemeClr val="bg1"/>
              </a:solidFill>
              <a:latin typeface="Times New Roman" panose="02020603050405020304" pitchFamily="18" charset="0"/>
              <a:cs typeface="Times New Roman" panose="02020603050405020304" pitchFamily="18" charset="0"/>
            </a:endParaRPr>
          </a:p>
          <a:p>
            <a:r>
              <a:rPr lang="en-US" sz="2200" dirty="0">
                <a:solidFill>
                  <a:schemeClr val="bg1"/>
                </a:solidFill>
                <a:latin typeface="Times New Roman" panose="02020603050405020304" pitchFamily="18" charset="0"/>
                <a:cs typeface="Times New Roman" panose="02020603050405020304" pitchFamily="18" charset="0"/>
              </a:rPr>
              <a:t>- Conduct regular security reviews</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3457072" y="-190593"/>
            <a:ext cx="5410200" cy="132347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2009274" y="1289293"/>
            <a:ext cx="6292516" cy="5099476"/>
          </a:xfrm>
          <a:prstGeom prst="rect">
            <a:avLst/>
          </a:prstGeom>
          <a:noFill/>
          <a:ln>
            <a:noFill/>
          </a:ln>
        </p:spPr>
        <p:txBody>
          <a:bodyPr spcFirstLastPara="1" wrap="square" lIns="91425" tIns="45700" rIns="91425" bIns="45700" anchor="t" anchorCtr="0">
            <a:normAutofit fontScale="25000" lnSpcReduction="20000"/>
          </a:bodyPr>
          <a:lstStyle/>
          <a:p>
            <a:pPr marL="114300" indent="0">
              <a:lnSpc>
                <a:spcPct val="170000"/>
              </a:lnSpc>
              <a:buNone/>
            </a:pPr>
            <a:r>
              <a:rPr lang="en-US" sz="3800" b="1" u="sng" dirty="0">
                <a:latin typeface="Times New Roman" panose="02020603050405020304" pitchFamily="18" charset="0"/>
                <a:cs typeface="Times New Roman" panose="02020603050405020304" pitchFamily="18" charset="0"/>
              </a:rPr>
              <a:t>Policy Gaps Identified</a:t>
            </a:r>
            <a:endParaRPr lang="en-US" sz="3800" u="sng" dirty="0">
              <a:latin typeface="Times New Roman" panose="02020603050405020304" pitchFamily="18" charset="0"/>
              <a:cs typeface="Times New Roman" panose="02020603050405020304" pitchFamily="18" charset="0"/>
            </a:endParaRPr>
          </a:p>
          <a:p>
            <a:pPr>
              <a:lnSpc>
                <a:spcPct val="170000"/>
              </a:lnSpc>
            </a:pPr>
            <a:r>
              <a:rPr lang="en-US" sz="4300" dirty="0">
                <a:latin typeface="Times New Roman" panose="02020603050405020304" pitchFamily="18" charset="0"/>
                <a:cs typeface="Times New Roman" panose="02020603050405020304" pitchFamily="18" charset="0"/>
              </a:rPr>
              <a:t>Limited fuzz testing for unexpected input patterns</a:t>
            </a:r>
          </a:p>
          <a:p>
            <a:pPr>
              <a:lnSpc>
                <a:spcPct val="170000"/>
              </a:lnSpc>
            </a:pPr>
            <a:r>
              <a:rPr lang="en-US" sz="4300" dirty="0">
                <a:latin typeface="Times New Roman" panose="02020603050405020304" pitchFamily="18" charset="0"/>
                <a:cs typeface="Times New Roman" panose="02020603050405020304" pitchFamily="18" charset="0"/>
              </a:rPr>
              <a:t>Need stronger enforcement in CI/CD pipeline</a:t>
            </a:r>
          </a:p>
          <a:p>
            <a:pPr>
              <a:lnSpc>
                <a:spcPct val="170000"/>
              </a:lnSpc>
            </a:pPr>
            <a:r>
              <a:rPr lang="en-US" sz="4300" dirty="0">
                <a:latin typeface="Times New Roman" panose="02020603050405020304" pitchFamily="18" charset="0"/>
                <a:cs typeface="Times New Roman" panose="02020603050405020304" pitchFamily="18" charset="0"/>
              </a:rPr>
              <a:t>Inconsistent security training across developers</a:t>
            </a:r>
          </a:p>
          <a:p>
            <a:pPr>
              <a:lnSpc>
                <a:spcPct val="170000"/>
              </a:lnSpc>
            </a:pPr>
            <a:r>
              <a:rPr lang="en-US" sz="4300" dirty="0">
                <a:latin typeface="Times New Roman" panose="02020603050405020304" pitchFamily="18" charset="0"/>
                <a:cs typeface="Times New Roman" panose="02020603050405020304" pitchFamily="18" charset="0"/>
              </a:rPr>
              <a:t>Limited runtime anomaly detection</a:t>
            </a:r>
          </a:p>
          <a:p>
            <a:pPr marL="114300" indent="0">
              <a:lnSpc>
                <a:spcPct val="170000"/>
              </a:lnSpc>
              <a:buNone/>
            </a:pPr>
            <a:r>
              <a:rPr lang="en-US" sz="3800" b="1" u="sng" dirty="0">
                <a:latin typeface="Times New Roman" panose="02020603050405020304" pitchFamily="18" charset="0"/>
                <a:cs typeface="Times New Roman" panose="02020603050405020304" pitchFamily="18" charset="0"/>
              </a:rPr>
              <a:t>Recommended Improvements</a:t>
            </a:r>
            <a:endParaRPr lang="en-US" sz="3800" u="sng" dirty="0">
              <a:latin typeface="Times New Roman" panose="02020603050405020304" pitchFamily="18" charset="0"/>
              <a:cs typeface="Times New Roman" panose="02020603050405020304" pitchFamily="18" charset="0"/>
            </a:endParaRPr>
          </a:p>
          <a:p>
            <a:pPr>
              <a:lnSpc>
                <a:spcPct val="170000"/>
              </a:lnSpc>
            </a:pPr>
            <a:r>
              <a:rPr lang="en-US" sz="4400" dirty="0">
                <a:latin typeface="Times New Roman" panose="02020603050405020304" pitchFamily="18" charset="0"/>
                <a:cs typeface="Times New Roman" panose="02020603050405020304" pitchFamily="18" charset="0"/>
              </a:rPr>
              <a:t>Integrate automated fuzz testing tools</a:t>
            </a:r>
          </a:p>
          <a:p>
            <a:pPr>
              <a:lnSpc>
                <a:spcPct val="170000"/>
              </a:lnSpc>
            </a:pPr>
            <a:r>
              <a:rPr lang="en-US" sz="4400" dirty="0">
                <a:latin typeface="Times New Roman" panose="02020603050405020304" pitchFamily="18" charset="0"/>
                <a:cs typeface="Times New Roman" panose="02020603050405020304" pitchFamily="18" charset="0"/>
              </a:rPr>
              <a:t>Enforce mandatory security checks before merge</a:t>
            </a:r>
          </a:p>
          <a:p>
            <a:pPr>
              <a:lnSpc>
                <a:spcPct val="170000"/>
              </a:lnSpc>
            </a:pPr>
            <a:r>
              <a:rPr lang="en-US" sz="4400" dirty="0">
                <a:latin typeface="Times New Roman" panose="02020603050405020304" pitchFamily="18" charset="0"/>
                <a:cs typeface="Times New Roman" panose="02020603050405020304" pitchFamily="18" charset="0"/>
              </a:rPr>
              <a:t>Schedule recurring developer security workshops</a:t>
            </a:r>
          </a:p>
          <a:p>
            <a:pPr>
              <a:lnSpc>
                <a:spcPct val="170000"/>
              </a:lnSpc>
            </a:pPr>
            <a:r>
              <a:rPr lang="en-US" sz="4400" dirty="0">
                <a:latin typeface="Times New Roman" panose="02020603050405020304" pitchFamily="18" charset="0"/>
                <a:cs typeface="Times New Roman" panose="02020603050405020304" pitchFamily="18" charset="0"/>
              </a:rPr>
              <a:t>Expand production monitoring and alert thresholds</a:t>
            </a:r>
          </a:p>
          <a:p>
            <a:pPr marL="114300" indent="0">
              <a:lnSpc>
                <a:spcPct val="170000"/>
              </a:lnSpc>
              <a:buNone/>
            </a:pPr>
            <a:r>
              <a:rPr lang="en-US" sz="3800" b="1" u="sng" dirty="0">
                <a:latin typeface="Times New Roman" panose="02020603050405020304" pitchFamily="18" charset="0"/>
                <a:cs typeface="Times New Roman" panose="02020603050405020304" pitchFamily="18" charset="0"/>
              </a:rPr>
              <a:t>Long-Term Focus</a:t>
            </a:r>
            <a:endParaRPr lang="en-US" sz="3800" u="sng" dirty="0">
              <a:latin typeface="Times New Roman" panose="02020603050405020304" pitchFamily="18" charset="0"/>
              <a:cs typeface="Times New Roman" panose="02020603050405020304" pitchFamily="18" charset="0"/>
            </a:endParaRPr>
          </a:p>
          <a:p>
            <a:pPr>
              <a:lnSpc>
                <a:spcPct val="170000"/>
              </a:lnSpc>
            </a:pPr>
            <a:r>
              <a:rPr lang="en-US" sz="4400" dirty="0">
                <a:latin typeface="Times New Roman" panose="02020603050405020304" pitchFamily="18" charset="0"/>
                <a:cs typeface="Times New Roman" panose="02020603050405020304" pitchFamily="18" charset="0"/>
              </a:rPr>
              <a:t>Continuous policy review and updates</a:t>
            </a:r>
          </a:p>
          <a:p>
            <a:pPr>
              <a:lnSpc>
                <a:spcPct val="170000"/>
              </a:lnSpc>
            </a:pPr>
            <a:r>
              <a:rPr lang="en-US" sz="4400" dirty="0">
                <a:latin typeface="Times New Roman" panose="02020603050405020304" pitchFamily="18" charset="0"/>
                <a:cs typeface="Times New Roman" panose="02020603050405020304" pitchFamily="18" charset="0"/>
              </a:rPr>
              <a:t>Regular security audits</a:t>
            </a:r>
          </a:p>
          <a:p>
            <a:pPr>
              <a:lnSpc>
                <a:spcPct val="170000"/>
              </a:lnSpc>
            </a:pPr>
            <a:r>
              <a:rPr lang="en-US" sz="4400" dirty="0">
                <a:latin typeface="Times New Roman" panose="02020603050405020304" pitchFamily="18" charset="0"/>
                <a:cs typeface="Times New Roman" panose="02020603050405020304" pitchFamily="18" charset="0"/>
              </a:rPr>
              <a:t>Proactive threat modeling during design phase</a:t>
            </a:r>
          </a:p>
          <a:p>
            <a:pPr marL="914400" lvl="2" indent="0" algn="l" rtl="0">
              <a:lnSpc>
                <a:spcPct val="90000"/>
              </a:lnSpc>
              <a:spcBef>
                <a:spcPts val="0"/>
              </a:spcBef>
              <a:spcAft>
                <a:spcPts val="0"/>
              </a:spcAft>
              <a:buClr>
                <a:schemeClr val="lt1"/>
              </a:buClr>
              <a:buSzPts val="1800"/>
              <a:buNone/>
            </a:pPr>
            <a:endParaRPr sz="1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3368842" y="0"/>
            <a:ext cx="4720388" cy="1455822"/>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CONCLUSIONS</a:t>
            </a:r>
            <a:endParaRPr dirty="0"/>
          </a:p>
        </p:txBody>
      </p:sp>
      <p:sp>
        <p:nvSpPr>
          <p:cNvPr id="231" name="Google Shape;231;p13"/>
          <p:cNvSpPr txBox="1">
            <a:spLocks noGrp="1"/>
          </p:cNvSpPr>
          <p:nvPr>
            <p:ph type="body" idx="1"/>
          </p:nvPr>
        </p:nvSpPr>
        <p:spPr>
          <a:xfrm>
            <a:off x="144379" y="1135781"/>
            <a:ext cx="6075947" cy="4024125"/>
          </a:xfrm>
          <a:prstGeom prst="rect">
            <a:avLst/>
          </a:prstGeom>
          <a:noFill/>
          <a:ln>
            <a:noFill/>
          </a:ln>
        </p:spPr>
        <p:txBody>
          <a:bodyPr spcFirstLastPara="1" wrap="square" lIns="91425" tIns="45700" rIns="91425" bIns="45700" anchor="t" anchorCtr="0">
            <a:normAutofit/>
          </a:bodyPr>
          <a:lstStyle/>
          <a:p>
            <a:pPr marL="114300" indent="0">
              <a:buNone/>
            </a:pPr>
            <a:r>
              <a:rPr lang="en-US" b="1" dirty="0"/>
              <a:t>Standards to Strengthen Moving Forward</a:t>
            </a:r>
          </a:p>
          <a:p>
            <a:pPr marL="114300" indent="0">
              <a:buNone/>
            </a:pPr>
            <a:endParaRPr lang="en-US" dirty="0"/>
          </a:p>
          <a:p>
            <a:r>
              <a:rPr lang="en-US" dirty="0"/>
              <a:t>Mandatory input validation across all modules</a:t>
            </a:r>
          </a:p>
          <a:p>
            <a:r>
              <a:rPr lang="en-US" dirty="0"/>
              <a:t>Expanded automated security testing</a:t>
            </a:r>
          </a:p>
          <a:p>
            <a:r>
              <a:rPr lang="en-US" dirty="0"/>
              <a:t>Enforced CI/CD security gates</a:t>
            </a:r>
          </a:p>
          <a:p>
            <a:r>
              <a:rPr lang="en-US" dirty="0"/>
              <a:t>Regular security audits and code reviews</a:t>
            </a:r>
          </a:p>
          <a:p>
            <a:r>
              <a:rPr lang="en-US" dirty="0"/>
              <a:t>Ongoing developer security training</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E8F9DB9E-D81D-D297-E3B7-F2381391D4BA}"/>
              </a:ext>
            </a:extLst>
          </p:cNvPr>
          <p:cNvSpPr txBox="1"/>
          <p:nvPr/>
        </p:nvSpPr>
        <p:spPr>
          <a:xfrm>
            <a:off x="6894096" y="1104499"/>
            <a:ext cx="4840703" cy="4154984"/>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Security is strongest when it becomes part of the culture, not just a checklist. By consistently applying secure coding standards, expanding automated testing, and improving monitoring, Green Pace can reduce long-term risk. A proactive approach ensures vulnerabilities are addressed early, protecting system integrity, user trust, and overall organizational stability moving forward.</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4150895" y="0"/>
            <a:ext cx="4239126" cy="127534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type="body" idx="1"/>
          </p:nvPr>
        </p:nvSpPr>
        <p:spPr>
          <a:xfrm>
            <a:off x="685800" y="1275348"/>
            <a:ext cx="10820400" cy="4943337"/>
          </a:xfrm>
          <a:prstGeom prst="rect">
            <a:avLst/>
          </a:prstGeom>
          <a:noFill/>
          <a:ln>
            <a:noFill/>
          </a:ln>
        </p:spPr>
        <p:txBody>
          <a:bodyPr spcFirstLastPara="1" wrap="square" lIns="91425" tIns="45700" rIns="91425" bIns="45700" anchor="t" anchorCtr="0">
            <a:normAutofit/>
          </a:bodyPr>
          <a:lstStyle/>
          <a:p>
            <a:r>
              <a:rPr lang="en-US" dirty="0"/>
              <a:t>OWASP Foundation. (2021). </a:t>
            </a:r>
            <a:r>
              <a:rPr lang="en-US" i="1" dirty="0"/>
              <a:t>OWASP Top Ten Web Application Security Risks</a:t>
            </a:r>
            <a:r>
              <a:rPr lang="en-US" dirty="0"/>
              <a:t>.</a:t>
            </a:r>
            <a:br>
              <a:rPr lang="en-US" dirty="0"/>
            </a:br>
            <a:r>
              <a:rPr lang="en-US" dirty="0">
                <a:hlinkClick r:id="rId4"/>
              </a:rPr>
              <a:t>https://owasp.org/www-project-top-ten/</a:t>
            </a:r>
            <a:endParaRPr lang="en-US" dirty="0"/>
          </a:p>
          <a:p>
            <a:pPr marL="0" lvl="0" indent="0" algn="l" rtl="0">
              <a:lnSpc>
                <a:spcPct val="90000"/>
              </a:lnSpc>
              <a:spcBef>
                <a:spcPts val="0"/>
              </a:spcBef>
              <a:spcAft>
                <a:spcPts val="0"/>
              </a:spcAft>
              <a:buClr>
                <a:schemeClr val="lt1"/>
              </a:buClr>
              <a:buSzPts val="2200"/>
              <a:buNone/>
            </a:pPr>
            <a:endParaRPr lang="en-US" dirty="0"/>
          </a:p>
          <a:p>
            <a:pPr marL="342900">
              <a:spcBef>
                <a:spcPts val="0"/>
              </a:spcBef>
              <a:buSzPts val="2200"/>
            </a:pPr>
            <a:r>
              <a:rPr lang="en-US" dirty="0"/>
              <a:t>Microsoft. (2023). </a:t>
            </a:r>
            <a:r>
              <a:rPr lang="en-US" i="1" dirty="0"/>
              <a:t>C++ Core Guidelines</a:t>
            </a:r>
            <a:r>
              <a:rPr lang="en-US" dirty="0"/>
              <a:t>.</a:t>
            </a:r>
            <a:br>
              <a:rPr lang="en-US" dirty="0"/>
            </a:br>
            <a:r>
              <a:rPr lang="en-US" dirty="0">
                <a:hlinkClick r:id="rId5"/>
              </a:rPr>
              <a:t>https://learn.microsoft.com/en-us/cpp/code-quality/cpp-core-guidelines</a:t>
            </a:r>
            <a:endParaRPr lang="en-US" dirty="0"/>
          </a:p>
          <a:p>
            <a:pPr marL="342900">
              <a:spcBef>
                <a:spcPts val="0"/>
              </a:spcBef>
              <a:buSzPts val="2200"/>
            </a:pPr>
            <a:endParaRPr lang="en-US" dirty="0"/>
          </a:p>
          <a:p>
            <a:pPr marL="342900">
              <a:spcBef>
                <a:spcPts val="0"/>
              </a:spcBef>
              <a:buSzPts val="2200"/>
            </a:pPr>
            <a:r>
              <a:rPr lang="en-US" dirty="0"/>
              <a:t>National Institute of Standards and Technology (NIST). (2020). </a:t>
            </a:r>
            <a:r>
              <a:rPr lang="en-US" i="1" dirty="0"/>
              <a:t>Security and Privacy Controls for Information Systems and Organizations (SP 800-53 Rev. 5).</a:t>
            </a:r>
            <a:br>
              <a:rPr lang="en-US" dirty="0"/>
            </a:br>
            <a:r>
              <a:rPr lang="en-US" dirty="0">
                <a:hlinkClick r:id="rId6"/>
              </a:rPr>
              <a:t>https://csrc.nist.gov/publications/detail/sp/800-53/rev-5/final</a:t>
            </a:r>
            <a:endParaRPr lang="en-US" dirty="0"/>
          </a:p>
          <a:p>
            <a:pPr marL="342900">
              <a:spcBef>
                <a:spcPts val="0"/>
              </a:spcBef>
              <a:buSzPts val="2200"/>
            </a:pPr>
            <a:endParaRPr lang="en-US" dirty="0"/>
          </a:p>
          <a:p>
            <a:pPr marL="342900">
              <a:spcBef>
                <a:spcPts val="0"/>
              </a:spcBef>
              <a:buSzPts val="2200"/>
            </a:pPr>
            <a:r>
              <a:rPr lang="en-US" dirty="0"/>
              <a:t>National Institute of Standards and Technology (NIST). (2018). </a:t>
            </a:r>
            <a:r>
              <a:rPr lang="en-US" i="1" dirty="0"/>
              <a:t>Framework for Improving Critical Infrastructure Cybersecurity.</a:t>
            </a:r>
            <a:br>
              <a:rPr lang="en-US" dirty="0"/>
            </a:br>
            <a:r>
              <a:rPr lang="en-US" dirty="0">
                <a:hlinkClick r:id="rId7"/>
              </a:rPr>
              <a:t>https://www.nist.gov/cyberframework</a:t>
            </a:r>
            <a:endParaRPr lang="en-US" dirty="0"/>
          </a:p>
          <a:p>
            <a:pPr marL="342900">
              <a:spcBef>
                <a:spcPts val="0"/>
              </a:spcBef>
              <a:buSzPts val="2200"/>
            </a:pPr>
            <a:endParaRPr lang="en-US" dirty="0"/>
          </a:p>
          <a:p>
            <a:pPr marL="0" lvl="0" indent="0">
              <a:spcBef>
                <a:spcPts val="0"/>
              </a:spcBef>
              <a:buSzPts val="2200"/>
              <a:buNone/>
            </a:pPr>
            <a:endParaRPr dirty="0"/>
          </a:p>
        </p:txBody>
      </p:sp>
      <p:pic>
        <p:nvPicPr>
          <p:cNvPr id="239" name="Google Shape;239;p14" descr="Green Pace logo"/>
          <p:cNvPicPr preferRelativeResize="0"/>
          <p:nvPr/>
        </p:nvPicPr>
        <p:blipFill>
          <a:blip r:embed="rId8">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1191</TotalTime>
  <Words>1769</Words>
  <Application>Microsoft Office PowerPoint</Application>
  <PresentationFormat>Widescreen</PresentationFormat>
  <Paragraphs>178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Times New Roman</vt: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Brennan Brickell</cp:lastModifiedBy>
  <cp:revision>6</cp:revision>
  <dcterms:created xsi:type="dcterms:W3CDTF">2020-08-19T17:59:24Z</dcterms:created>
  <dcterms:modified xsi:type="dcterms:W3CDTF">2026-03-02T07:38:06Z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